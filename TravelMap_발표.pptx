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642" y="2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89197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동양미래대학교 컴퓨터소프트웨어공학과 20250707 이효정입니다.
오늘은 제가 제작한 TravelMap 프로젝트를 발표하겠습니다.
TravelMap은 '여행지를 한눈에'라는 슬로건처럼 사용자가 원하는 관광지를 쉽고 빠르게 찾을 수 있는 웹앱입니다.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순서를 말씀드리겠습니다.
첫 번째로 프로젝트 개요, 두 번째로 기술 스택과 구조,
세 번째로 주요 기능 소개, 네 번째로 화면 구성,
마지막으로 개발 과정과 느낀 점을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TravelMap은 공공데이터 관광 API를 활용하여 사용자가 원하는 지역과 카테고리에 맞는 관광지를 검색하고 추천받을 수 있는 웹앱입니다.
여행을 계획할 때 인터넷 검색을 통해 관광지를 찾는 과정이 번거롭고, 원하는 정보를 한 번에 찾기 어려운 문제점을 해결하고자 제작했습니다.
원하는 관광지를 쉽고 빠르게 검색하고, 지역별·카테고리별 정보를 제공하며, 관심 관광지를 저장할 수 있는 기능을 제공합니다.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API는 한국관광공사의 국문 관광정보 서비스 API, TourAPI 버전 2입니다.
총 4가지 엔드포인트를 활용했습니다.
areaBasedList2로 지역별 관광지 목록을 가져오고,
searchKeyword2로 키워드 검색을,
locationBasedList2로 현재 위치 기반 주변 관광지를,
detailCommon2로 관광지 상세 정보를 불러옵니다.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스택으로는 React와 Vite를 사용했습니다. Vite를 통해 빠른 개발 환경을 구성했고, React의 컴포넌트 기반 아키텍처로 UI를 구성했습니다.
API 호출 결과는 localStorage를 활용해 12시간 캐싱 처리하여 불필요한 중복 요청을 방지했습니다.
컴포넌트 구조는 App이 최상단에서 전체 상태를 관리하며,
Navbar, Hero, SideMenu, SectionRow, TourCard, TourDetail, Loading, ErrorMessage로 역할을 분리했습니다.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TravelMap의 주요 기능 4가지를 소개합니다.
첫째, 키워드 검색 기능으로 관광지를 검색하고, 최근 검색어가 자동 저장됩니다.
둘째, 카테고리 탐색 기능으로 관광지, 축제·행사, 맛집, 숙소, 쇼핑, 레포츠 총 6개 카테고리를 제공합니다.
셋째, 내 주변 관광지 기능으로 현재 GPS 위치를 기반으로 반경 30km 내의 관광지를 추천합니다.
넷째, 즐겨찾기 기능으로 관심 있는 관광지를 저장하고 홈에서 바로 확인할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구성을 설명하겠습니다.
메인 홈에는 히어로 배너 슬라이드, 내 주변 추천 여행지, 관심 여행지 목록이 있습니다.
카테고리 및 검색 결과 화면에서는 4열 그리드 레이아웃으로 관광지를 보여주고 지역과 분류 필터를 제공합니다.
관광지 카드를 클릭하면 상세 모달이 열려 대표 이미지, 소개, 카카오맵 링크를 확인할 수 있습니다.
사이드 메뉴에서는 카테고리 바로가기와 최근 검색어를 제공합니다.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과정에서 세 가지 주요 기술적 도전이 있었습니다.
첫째, API 429 오류 문제입니다. 여러 섹션을 동시에 로딩할 때 API 요청이 몰려 트래픽 초과가 발생했습니다. 요청 큐를 만들어 1.2초 간격으로 순차 처리하고, localStorage에 12시간 캐싱을 적용해 해결했습니다.
둘째, 이미지가 없는 데이터에는 placeholder 이미지를 기본값으로 설정했습니다.
셋째, 상세 설명 필드에 HTML 태그가 포함되어 있어 정규식으로 제거했습니다.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프로젝트를 통해 여러 가지를 배웠습니다.
공공 API를 활용해 실제 데이터를 가져오고 화면에 출력하는 방법을 익혔고,
컴포넌트 단위로 설계하면서 웹 개발의 구조를 이해했습니다.
특히 API 요청 제한 문제를 스스로 해결하면서 비동기 처리와 캐싱 전략을 실전에서 습득할 수 있었습니다.
앞으로는 카카오맵 API 연동, AI 기반 맞춤 추천, 날씨 정보 연동 등을 추가하여 더욱 완성도 높은 관광 플랫폼으로 발전시키고 싶습니다.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TravelMap 프로젝트 발표를 마치겠습니다.
들어주셔서 감사합니다. 질문이 있으시면 말씀해 주세요.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1E1E1E"/>
          </a:solidFill>
          <a:ln w="12700">
            <a:solidFill>
              <a:srgbClr val="1E1E1E"/>
            </a:solidFill>
            <a:prstDash val="solid"/>
          </a:ln>
        </p:spPr>
      </p:sp>
      <p:sp>
        <p:nvSpPr>
          <p:cNvPr id="3" name="Shape 1"/>
          <p:cNvSpPr/>
          <p:nvPr/>
        </p:nvSpPr>
        <p:spPr>
          <a:xfrm>
            <a:off x="6858000" y="2286000"/>
            <a:ext cx="2743200" cy="2743200"/>
          </a:xfrm>
          <a:prstGeom prst="ellipse">
            <a:avLst/>
          </a:prstGeom>
          <a:solidFill>
            <a:srgbClr val="1A1A1A"/>
          </a:solidFill>
          <a:ln w="12700">
            <a:solidFill>
              <a:srgbClr val="1A1A1A"/>
            </a:solidFill>
            <a:prstDash val="solid"/>
          </a:ln>
        </p:spPr>
      </p:sp>
      <p:sp>
        <p:nvSpPr>
          <p:cNvPr id="4" name="Text 2"/>
          <p:cNvSpPr/>
          <p:nvPr/>
        </p:nvSpPr>
        <p:spPr>
          <a:xfrm>
            <a:off x="640080" y="1280160"/>
            <a:ext cx="7315200" cy="1280160"/>
          </a:xfrm>
          <a:prstGeom prst="rect">
            <a:avLst/>
          </a:prstGeom>
          <a:noFill/>
          <a:ln/>
        </p:spPr>
        <p:txBody>
          <a:bodyPr wrap="square" lIns="0" tIns="0" rIns="0" bIns="0" rtlCol="0" anchor="ctr"/>
          <a:lstStyle/>
          <a:p>
            <a:pPr marL="0" indent="0" algn="l">
              <a:buNone/>
            </a:pPr>
            <a:r>
              <a:rPr lang="en-US" sz="6400" b="1" dirty="0">
                <a:solidFill>
                  <a:srgbClr val="FFFFFF"/>
                </a:solidFill>
                <a:latin typeface="Calibri" pitchFamily="34" charset="0"/>
                <a:ea typeface="Calibri" pitchFamily="34" charset="-122"/>
                <a:cs typeface="Calibri" pitchFamily="34" charset="-120"/>
              </a:rPr>
              <a:t>TravelMap</a:t>
            </a:r>
            <a:endParaRPr lang="en-US" sz="6400" dirty="0"/>
          </a:p>
        </p:txBody>
      </p:sp>
      <p:sp>
        <p:nvSpPr>
          <p:cNvPr id="5" name="Text 3"/>
          <p:cNvSpPr/>
          <p:nvPr/>
        </p:nvSpPr>
        <p:spPr>
          <a:xfrm>
            <a:off x="640080" y="2651760"/>
            <a:ext cx="6400800" cy="548640"/>
          </a:xfrm>
          <a:prstGeom prst="rect">
            <a:avLst/>
          </a:prstGeom>
          <a:noFill/>
          <a:ln/>
        </p:spPr>
        <p:txBody>
          <a:bodyPr wrap="square" lIns="0" tIns="0" rIns="0" bIns="0" rtlCol="0" anchor="ctr"/>
          <a:lstStyle/>
          <a:p>
            <a:pPr marL="0" indent="0" algn="l">
              <a:buNone/>
            </a:pPr>
            <a:r>
              <a:rPr lang="en-US" sz="2200" dirty="0">
                <a:solidFill>
                  <a:srgbClr val="888888"/>
                </a:solidFill>
                <a:latin typeface="Calibri" pitchFamily="34" charset="0"/>
                <a:ea typeface="Calibri" pitchFamily="34" charset="-122"/>
                <a:cs typeface="Calibri" pitchFamily="34" charset="-120"/>
              </a:rPr>
              <a:t>여행지를 한눈에</a:t>
            </a:r>
            <a:endParaRPr lang="en-US" sz="2200" dirty="0"/>
          </a:p>
        </p:txBody>
      </p:sp>
      <p:sp>
        <p:nvSpPr>
          <p:cNvPr id="6" name="Shape 4"/>
          <p:cNvSpPr/>
          <p:nvPr/>
        </p:nvSpPr>
        <p:spPr>
          <a:xfrm>
            <a:off x="640080" y="3337560"/>
            <a:ext cx="2286000" cy="36576"/>
          </a:xfrm>
          <a:prstGeom prst="rect">
            <a:avLst/>
          </a:prstGeom>
          <a:solidFill>
            <a:srgbClr val="444444"/>
          </a:solidFill>
          <a:ln w="12700">
            <a:solidFill>
              <a:srgbClr val="444444"/>
            </a:solidFill>
            <a:prstDash val="solid"/>
          </a:ln>
        </p:spPr>
      </p:sp>
      <p:sp>
        <p:nvSpPr>
          <p:cNvPr id="7" name="Text 5"/>
          <p:cNvSpPr/>
          <p:nvPr/>
        </p:nvSpPr>
        <p:spPr>
          <a:xfrm>
            <a:off x="640080" y="3520440"/>
            <a:ext cx="6400800" cy="822960"/>
          </a:xfrm>
          <a:prstGeom prst="rect">
            <a:avLst/>
          </a:prstGeom>
          <a:noFill/>
          <a:ln/>
        </p:spPr>
        <p:txBody>
          <a:bodyPr wrap="square" rtlCol="0" anchor="ctr"/>
          <a:lstStyle/>
          <a:p>
            <a:pPr marL="0" indent="0" algn="l">
              <a:buNone/>
            </a:pPr>
            <a:r>
              <a:rPr lang="en-US" sz="1400" dirty="0" err="1">
                <a:solidFill>
                  <a:srgbClr val="666666"/>
                </a:solidFill>
                <a:latin typeface="Calibri" pitchFamily="34" charset="0"/>
                <a:ea typeface="Calibri" pitchFamily="34" charset="-122"/>
                <a:cs typeface="Calibri" pitchFamily="34" charset="-120"/>
              </a:rPr>
              <a:t>컴퓨터소프트웨어공학과</a:t>
            </a:r>
            <a:r>
              <a:rPr lang="en-US" sz="1400" dirty="0">
                <a:solidFill>
                  <a:srgbClr val="666666"/>
                </a:solidFill>
                <a:latin typeface="Calibri" pitchFamily="34" charset="0"/>
                <a:ea typeface="Calibri" pitchFamily="34" charset="-122"/>
                <a:cs typeface="Calibri" pitchFamily="34" charset="-120"/>
              </a:rPr>
              <a:t> YC</a:t>
            </a:r>
            <a:endParaRPr lang="en-US" sz="1400" dirty="0"/>
          </a:p>
          <a:p>
            <a:pPr marL="0" indent="0" algn="l">
              <a:buNone/>
            </a:pPr>
            <a:r>
              <a:rPr lang="en-US" sz="1400" dirty="0">
                <a:solidFill>
                  <a:srgbClr val="666666"/>
                </a:solidFill>
                <a:latin typeface="Calibri" pitchFamily="34" charset="0"/>
                <a:ea typeface="Calibri" pitchFamily="34" charset="-122"/>
                <a:cs typeface="Calibri" pitchFamily="34" charset="-120"/>
              </a:rPr>
              <a:t>20250707  이효정</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indent="0" algn="l">
              <a:buNone/>
            </a:pPr>
            <a:r>
              <a:rPr lang="en-US" sz="3600" b="1" dirty="0">
                <a:solidFill>
                  <a:srgbClr val="111111"/>
                </a:solidFill>
                <a:latin typeface="Calibri" pitchFamily="34" charset="0"/>
                <a:ea typeface="Calibri" pitchFamily="34" charset="-122"/>
                <a:cs typeface="Calibri" pitchFamily="34" charset="-120"/>
              </a:rPr>
              <a:t>목차</a:t>
            </a:r>
            <a:endParaRPr lang="en-US" sz="3600" dirty="0"/>
          </a:p>
        </p:txBody>
      </p:sp>
      <p:sp>
        <p:nvSpPr>
          <p:cNvPr id="3" name="Shape 1"/>
          <p:cNvSpPr/>
          <p:nvPr/>
        </p:nvSpPr>
        <p:spPr>
          <a:xfrm>
            <a:off x="640080" y="1188720"/>
            <a:ext cx="475488" cy="475488"/>
          </a:xfrm>
          <a:prstGeom prst="ellipse">
            <a:avLst/>
          </a:prstGeom>
          <a:solidFill>
            <a:srgbClr val="111111"/>
          </a:solidFill>
          <a:ln w="12700">
            <a:solidFill>
              <a:srgbClr val="111111"/>
            </a:solidFill>
            <a:prstDash val="solid"/>
          </a:ln>
        </p:spPr>
      </p:sp>
      <p:sp>
        <p:nvSpPr>
          <p:cNvPr id="4" name="Text 2"/>
          <p:cNvSpPr/>
          <p:nvPr/>
        </p:nvSpPr>
        <p:spPr>
          <a:xfrm>
            <a:off x="640080" y="11887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1280160" y="1207008"/>
            <a:ext cx="6400800" cy="438912"/>
          </a:xfrm>
          <a:prstGeom prst="rect">
            <a:avLst/>
          </a:prstGeom>
          <a:noFill/>
          <a:ln/>
        </p:spPr>
        <p:txBody>
          <a:bodyPr wrap="square" lIns="0" tIns="0" rIns="0" bIns="0" rtlCol="0" anchor="ctr"/>
          <a:lstStyle/>
          <a:p>
            <a:pPr marL="0" indent="0" algn="l">
              <a:buNone/>
            </a:pPr>
            <a:r>
              <a:rPr lang="en-US" sz="1800" dirty="0">
                <a:solidFill>
                  <a:srgbClr val="111111"/>
                </a:solidFill>
                <a:latin typeface="Calibri" pitchFamily="34" charset="0"/>
                <a:ea typeface="Calibri" pitchFamily="34" charset="-122"/>
                <a:cs typeface="Calibri" pitchFamily="34" charset="-120"/>
              </a:rPr>
              <a:t>프로젝트 개요</a:t>
            </a:r>
            <a:endParaRPr lang="en-US" sz="1800" dirty="0"/>
          </a:p>
        </p:txBody>
      </p:sp>
      <p:sp>
        <p:nvSpPr>
          <p:cNvPr id="6" name="Shape 4"/>
          <p:cNvSpPr/>
          <p:nvPr/>
        </p:nvSpPr>
        <p:spPr>
          <a:xfrm>
            <a:off x="640080" y="1901952"/>
            <a:ext cx="475488" cy="475488"/>
          </a:xfrm>
          <a:prstGeom prst="ellipse">
            <a:avLst/>
          </a:prstGeom>
          <a:solidFill>
            <a:srgbClr val="111111"/>
          </a:solidFill>
          <a:ln w="12700">
            <a:solidFill>
              <a:srgbClr val="111111"/>
            </a:solidFill>
            <a:prstDash val="solid"/>
          </a:ln>
        </p:spPr>
      </p:sp>
      <p:sp>
        <p:nvSpPr>
          <p:cNvPr id="7" name="Text 5"/>
          <p:cNvSpPr/>
          <p:nvPr/>
        </p:nvSpPr>
        <p:spPr>
          <a:xfrm>
            <a:off x="640080" y="1901952"/>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8" name="Text 6"/>
          <p:cNvSpPr/>
          <p:nvPr/>
        </p:nvSpPr>
        <p:spPr>
          <a:xfrm>
            <a:off x="1280160" y="1920240"/>
            <a:ext cx="6400800" cy="438912"/>
          </a:xfrm>
          <a:prstGeom prst="rect">
            <a:avLst/>
          </a:prstGeom>
          <a:noFill/>
          <a:ln/>
        </p:spPr>
        <p:txBody>
          <a:bodyPr wrap="square" lIns="0" tIns="0" rIns="0" bIns="0" rtlCol="0" anchor="ctr"/>
          <a:lstStyle/>
          <a:p>
            <a:pPr marL="0" indent="0" algn="l">
              <a:buNone/>
            </a:pPr>
            <a:r>
              <a:rPr lang="en-US" sz="1800" dirty="0">
                <a:solidFill>
                  <a:srgbClr val="111111"/>
                </a:solidFill>
                <a:latin typeface="Calibri" pitchFamily="34" charset="0"/>
                <a:ea typeface="Calibri" pitchFamily="34" charset="-122"/>
                <a:cs typeface="Calibri" pitchFamily="34" charset="-120"/>
              </a:rPr>
              <a:t>기술 스택 및 구조</a:t>
            </a:r>
            <a:endParaRPr lang="en-US" sz="1800" dirty="0"/>
          </a:p>
        </p:txBody>
      </p:sp>
      <p:sp>
        <p:nvSpPr>
          <p:cNvPr id="9" name="Shape 7"/>
          <p:cNvSpPr/>
          <p:nvPr/>
        </p:nvSpPr>
        <p:spPr>
          <a:xfrm>
            <a:off x="640080" y="2615184"/>
            <a:ext cx="475488" cy="475488"/>
          </a:xfrm>
          <a:prstGeom prst="ellipse">
            <a:avLst/>
          </a:prstGeom>
          <a:solidFill>
            <a:srgbClr val="111111"/>
          </a:solidFill>
          <a:ln w="12700">
            <a:solidFill>
              <a:srgbClr val="111111"/>
            </a:solidFill>
            <a:prstDash val="solid"/>
          </a:ln>
        </p:spPr>
      </p:sp>
      <p:sp>
        <p:nvSpPr>
          <p:cNvPr id="10" name="Text 8"/>
          <p:cNvSpPr/>
          <p:nvPr/>
        </p:nvSpPr>
        <p:spPr>
          <a:xfrm>
            <a:off x="640080" y="2615184"/>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1" name="Text 9"/>
          <p:cNvSpPr/>
          <p:nvPr/>
        </p:nvSpPr>
        <p:spPr>
          <a:xfrm>
            <a:off x="1280160" y="2633472"/>
            <a:ext cx="6400800" cy="438912"/>
          </a:xfrm>
          <a:prstGeom prst="rect">
            <a:avLst/>
          </a:prstGeom>
          <a:noFill/>
          <a:ln/>
        </p:spPr>
        <p:txBody>
          <a:bodyPr wrap="square" lIns="0" tIns="0" rIns="0" bIns="0" rtlCol="0" anchor="ctr"/>
          <a:lstStyle/>
          <a:p>
            <a:pPr marL="0" indent="0" algn="l">
              <a:buNone/>
            </a:pPr>
            <a:r>
              <a:rPr lang="en-US" sz="1800" dirty="0">
                <a:solidFill>
                  <a:srgbClr val="111111"/>
                </a:solidFill>
                <a:latin typeface="Calibri" pitchFamily="34" charset="0"/>
                <a:ea typeface="Calibri" pitchFamily="34" charset="-122"/>
                <a:cs typeface="Calibri" pitchFamily="34" charset="-120"/>
              </a:rPr>
              <a:t>주요 기능 소개</a:t>
            </a:r>
            <a:endParaRPr lang="en-US" sz="1800" dirty="0"/>
          </a:p>
        </p:txBody>
      </p:sp>
      <p:sp>
        <p:nvSpPr>
          <p:cNvPr id="12" name="Shape 10"/>
          <p:cNvSpPr/>
          <p:nvPr/>
        </p:nvSpPr>
        <p:spPr>
          <a:xfrm>
            <a:off x="640080" y="3328416"/>
            <a:ext cx="475488" cy="475488"/>
          </a:xfrm>
          <a:prstGeom prst="ellipse">
            <a:avLst/>
          </a:prstGeom>
          <a:solidFill>
            <a:srgbClr val="111111"/>
          </a:solidFill>
          <a:ln w="12700">
            <a:solidFill>
              <a:srgbClr val="111111"/>
            </a:solidFill>
            <a:prstDash val="solid"/>
          </a:ln>
        </p:spPr>
      </p:sp>
      <p:sp>
        <p:nvSpPr>
          <p:cNvPr id="13" name="Text 11"/>
          <p:cNvSpPr/>
          <p:nvPr/>
        </p:nvSpPr>
        <p:spPr>
          <a:xfrm>
            <a:off x="640080" y="332841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4" name="Text 12"/>
          <p:cNvSpPr/>
          <p:nvPr/>
        </p:nvSpPr>
        <p:spPr>
          <a:xfrm>
            <a:off x="1280160" y="3346704"/>
            <a:ext cx="6400800" cy="438912"/>
          </a:xfrm>
          <a:prstGeom prst="rect">
            <a:avLst/>
          </a:prstGeom>
          <a:noFill/>
          <a:ln/>
        </p:spPr>
        <p:txBody>
          <a:bodyPr wrap="square" lIns="0" tIns="0" rIns="0" bIns="0" rtlCol="0" anchor="ctr"/>
          <a:lstStyle/>
          <a:p>
            <a:pPr marL="0" indent="0" algn="l">
              <a:buNone/>
            </a:pPr>
            <a:r>
              <a:rPr lang="en-US" sz="1800" dirty="0">
                <a:solidFill>
                  <a:srgbClr val="111111"/>
                </a:solidFill>
                <a:latin typeface="Calibri" pitchFamily="34" charset="0"/>
                <a:ea typeface="Calibri" pitchFamily="34" charset="-122"/>
                <a:cs typeface="Calibri" pitchFamily="34" charset="-120"/>
              </a:rPr>
              <a:t>화면 구성</a:t>
            </a:r>
            <a:endParaRPr lang="en-US" sz="1800" dirty="0"/>
          </a:p>
        </p:txBody>
      </p:sp>
      <p:sp>
        <p:nvSpPr>
          <p:cNvPr id="15" name="Shape 13"/>
          <p:cNvSpPr/>
          <p:nvPr/>
        </p:nvSpPr>
        <p:spPr>
          <a:xfrm>
            <a:off x="640080" y="4041648"/>
            <a:ext cx="475488" cy="475488"/>
          </a:xfrm>
          <a:prstGeom prst="ellipse">
            <a:avLst/>
          </a:prstGeom>
          <a:solidFill>
            <a:srgbClr val="111111"/>
          </a:solidFill>
          <a:ln w="12700">
            <a:solidFill>
              <a:srgbClr val="111111"/>
            </a:solidFill>
            <a:prstDash val="solid"/>
          </a:ln>
        </p:spPr>
      </p:sp>
      <p:sp>
        <p:nvSpPr>
          <p:cNvPr id="16" name="Text 14"/>
          <p:cNvSpPr/>
          <p:nvPr/>
        </p:nvSpPr>
        <p:spPr>
          <a:xfrm>
            <a:off x="640080" y="4041648"/>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17" name="Text 15"/>
          <p:cNvSpPr/>
          <p:nvPr/>
        </p:nvSpPr>
        <p:spPr>
          <a:xfrm>
            <a:off x="1280160" y="4059936"/>
            <a:ext cx="6400800" cy="438912"/>
          </a:xfrm>
          <a:prstGeom prst="rect">
            <a:avLst/>
          </a:prstGeom>
          <a:noFill/>
          <a:ln/>
        </p:spPr>
        <p:txBody>
          <a:bodyPr wrap="square" lIns="0" tIns="0" rIns="0" bIns="0" rtlCol="0" anchor="ctr"/>
          <a:lstStyle/>
          <a:p>
            <a:pPr marL="0" indent="0" algn="l">
              <a:buNone/>
            </a:pPr>
            <a:r>
              <a:rPr lang="en-US" sz="1800" dirty="0">
                <a:solidFill>
                  <a:srgbClr val="111111"/>
                </a:solidFill>
                <a:latin typeface="Calibri" pitchFamily="34" charset="0"/>
                <a:ea typeface="Calibri" pitchFamily="34" charset="-122"/>
                <a:cs typeface="Calibri" pitchFamily="34" charset="-120"/>
              </a:rPr>
              <a:t>개발 과정 &amp; 느낀점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111111"/>
                </a:solidFill>
                <a:latin typeface="Calibri" pitchFamily="34" charset="0"/>
                <a:ea typeface="Calibri" pitchFamily="34" charset="-122"/>
                <a:cs typeface="Calibri" pitchFamily="34" charset="-120"/>
              </a:rPr>
              <a:t>01  프로젝트 개요</a:t>
            </a:r>
            <a:endParaRPr lang="en-US" sz="3000" dirty="0"/>
          </a:p>
        </p:txBody>
      </p:sp>
      <p:sp>
        <p:nvSpPr>
          <p:cNvPr id="3" name="Text 1"/>
          <p:cNvSpPr/>
          <p:nvPr/>
        </p:nvSpPr>
        <p:spPr>
          <a:xfrm>
            <a:off x="640080" y="1097280"/>
            <a:ext cx="3657600" cy="320040"/>
          </a:xfrm>
          <a:prstGeom prst="rect">
            <a:avLst/>
          </a:prstGeom>
          <a:noFill/>
          <a:ln/>
        </p:spPr>
        <p:txBody>
          <a:bodyPr wrap="square" lIns="0" tIns="0" rIns="0" bIns="0" rtlCol="0" anchor="ctr"/>
          <a:lstStyle/>
          <a:p>
            <a:pPr marL="0" indent="0" algn="l">
              <a:buNone/>
            </a:pPr>
            <a:r>
              <a:rPr lang="en-US" sz="1200" b="1" dirty="0">
                <a:solidFill>
                  <a:srgbClr val="777777"/>
                </a:solidFill>
                <a:latin typeface="Calibri" pitchFamily="34" charset="0"/>
                <a:ea typeface="Calibri" pitchFamily="34" charset="-122"/>
                <a:cs typeface="Calibri" pitchFamily="34" charset="-120"/>
              </a:rPr>
              <a:t>프로젝트명</a:t>
            </a:r>
            <a:endParaRPr lang="en-US" sz="1200" dirty="0"/>
          </a:p>
        </p:txBody>
      </p:sp>
      <p:sp>
        <p:nvSpPr>
          <p:cNvPr id="4" name="Text 2"/>
          <p:cNvSpPr/>
          <p:nvPr/>
        </p:nvSpPr>
        <p:spPr>
          <a:xfrm>
            <a:off x="640080" y="1371600"/>
            <a:ext cx="3657600" cy="457200"/>
          </a:xfrm>
          <a:prstGeom prst="rect">
            <a:avLst/>
          </a:prstGeom>
          <a:noFill/>
          <a:ln/>
        </p:spPr>
        <p:txBody>
          <a:bodyPr wrap="square" lIns="0" tIns="0" rIns="0" bIns="0" rtlCol="0" anchor="ctr"/>
          <a:lstStyle/>
          <a:p>
            <a:pPr marL="0" indent="0" algn="l">
              <a:buNone/>
            </a:pPr>
            <a:r>
              <a:rPr lang="en-US" sz="2200" b="1" dirty="0">
                <a:solidFill>
                  <a:srgbClr val="111111"/>
                </a:solidFill>
                <a:latin typeface="Calibri" pitchFamily="34" charset="0"/>
                <a:ea typeface="Calibri" pitchFamily="34" charset="-122"/>
                <a:cs typeface="Calibri" pitchFamily="34" charset="-120"/>
              </a:rPr>
              <a:t>TravelMap</a:t>
            </a:r>
            <a:endParaRPr lang="en-US" sz="2200" dirty="0"/>
          </a:p>
        </p:txBody>
      </p:sp>
      <p:sp>
        <p:nvSpPr>
          <p:cNvPr id="5" name="Text 3"/>
          <p:cNvSpPr/>
          <p:nvPr/>
        </p:nvSpPr>
        <p:spPr>
          <a:xfrm>
            <a:off x="640080" y="2011680"/>
            <a:ext cx="3657600" cy="320040"/>
          </a:xfrm>
          <a:prstGeom prst="rect">
            <a:avLst/>
          </a:prstGeom>
          <a:noFill/>
          <a:ln/>
        </p:spPr>
        <p:txBody>
          <a:bodyPr wrap="square" lIns="0" tIns="0" rIns="0" bIns="0" rtlCol="0" anchor="ctr"/>
          <a:lstStyle/>
          <a:p>
            <a:pPr marL="0" indent="0" algn="l">
              <a:buNone/>
            </a:pPr>
            <a:r>
              <a:rPr lang="en-US" sz="1200" b="1" dirty="0">
                <a:solidFill>
                  <a:srgbClr val="777777"/>
                </a:solidFill>
                <a:latin typeface="Calibri" pitchFamily="34" charset="0"/>
                <a:ea typeface="Calibri" pitchFamily="34" charset="-122"/>
                <a:cs typeface="Calibri" pitchFamily="34" charset="-120"/>
              </a:rPr>
              <a:t>주제</a:t>
            </a:r>
            <a:endParaRPr lang="en-US" sz="1200" dirty="0"/>
          </a:p>
        </p:txBody>
      </p:sp>
      <p:sp>
        <p:nvSpPr>
          <p:cNvPr id="6" name="Text 4"/>
          <p:cNvSpPr/>
          <p:nvPr/>
        </p:nvSpPr>
        <p:spPr>
          <a:xfrm>
            <a:off x="640080" y="2286000"/>
            <a:ext cx="3840480" cy="822960"/>
          </a:xfrm>
          <a:prstGeom prst="rect">
            <a:avLst/>
          </a:prstGeom>
          <a:noFill/>
          <a:ln/>
        </p:spPr>
        <p:txBody>
          <a:bodyPr wrap="square" lIns="0" tIns="0" rIns="0" bIns="0" rtlCol="0" anchor="ctr"/>
          <a:lstStyle/>
          <a:p>
            <a:pPr marL="0" indent="0" algn="l">
              <a:buNone/>
            </a:pPr>
            <a:r>
              <a:rPr lang="en-US" sz="1600" dirty="0">
                <a:solidFill>
                  <a:srgbClr val="111111"/>
                </a:solidFill>
                <a:latin typeface="Calibri" pitchFamily="34" charset="0"/>
                <a:ea typeface="Calibri" pitchFamily="34" charset="-122"/>
                <a:cs typeface="Calibri" pitchFamily="34" charset="-120"/>
              </a:rPr>
              <a:t>공공데이터 관광 API를 활용한</a:t>
            </a:r>
            <a:endParaRPr lang="en-US" sz="1600" dirty="0"/>
          </a:p>
          <a:p>
            <a:pPr marL="0" indent="0" algn="l">
              <a:buNone/>
            </a:pPr>
            <a:r>
              <a:rPr lang="en-US" sz="1600" dirty="0">
                <a:solidFill>
                  <a:srgbClr val="111111"/>
                </a:solidFill>
                <a:latin typeface="Calibri" pitchFamily="34" charset="0"/>
                <a:ea typeface="Calibri" pitchFamily="34" charset="-122"/>
                <a:cs typeface="Calibri" pitchFamily="34" charset="-120"/>
              </a:rPr>
              <a:t>관광지 검색·추천 웹앱</a:t>
            </a:r>
            <a:endParaRPr lang="en-US" sz="1600" dirty="0"/>
          </a:p>
        </p:txBody>
      </p:sp>
      <p:sp>
        <p:nvSpPr>
          <p:cNvPr id="7" name="Text 5"/>
          <p:cNvSpPr/>
          <p:nvPr/>
        </p:nvSpPr>
        <p:spPr>
          <a:xfrm>
            <a:off x="640080" y="3291840"/>
            <a:ext cx="3657600" cy="320040"/>
          </a:xfrm>
          <a:prstGeom prst="rect">
            <a:avLst/>
          </a:prstGeom>
          <a:noFill/>
          <a:ln/>
        </p:spPr>
        <p:txBody>
          <a:bodyPr wrap="square" lIns="0" tIns="0" rIns="0" bIns="0" rtlCol="0" anchor="ctr"/>
          <a:lstStyle/>
          <a:p>
            <a:pPr marL="0" indent="0" algn="l">
              <a:buNone/>
            </a:pPr>
            <a:r>
              <a:rPr lang="en-US" sz="1200" b="1" dirty="0">
                <a:solidFill>
                  <a:srgbClr val="777777"/>
                </a:solidFill>
                <a:latin typeface="Calibri" pitchFamily="34" charset="0"/>
                <a:ea typeface="Calibri" pitchFamily="34" charset="-122"/>
                <a:cs typeface="Calibri" pitchFamily="34" charset="-120"/>
              </a:rPr>
              <a:t>배경</a:t>
            </a:r>
            <a:endParaRPr lang="en-US" sz="1200" dirty="0"/>
          </a:p>
        </p:txBody>
      </p:sp>
      <p:sp>
        <p:nvSpPr>
          <p:cNvPr id="8" name="Text 6"/>
          <p:cNvSpPr/>
          <p:nvPr/>
        </p:nvSpPr>
        <p:spPr>
          <a:xfrm>
            <a:off x="640080" y="3566160"/>
            <a:ext cx="3840480" cy="914400"/>
          </a:xfrm>
          <a:prstGeom prst="rect">
            <a:avLst/>
          </a:prstGeom>
          <a:noFill/>
          <a:ln/>
        </p:spPr>
        <p:txBody>
          <a:bodyPr wrap="square" lIns="0" tIns="0" rIns="0" bIns="0" rtlCol="0" anchor="ctr"/>
          <a:lstStyle/>
          <a:p>
            <a:pPr marL="0" indent="0" algn="l">
              <a:buNone/>
            </a:pPr>
            <a:r>
              <a:rPr lang="en-US" sz="1300" dirty="0">
                <a:solidFill>
                  <a:srgbClr val="555555"/>
                </a:solidFill>
                <a:latin typeface="Calibri" pitchFamily="34" charset="0"/>
                <a:ea typeface="Calibri" pitchFamily="34" charset="-122"/>
                <a:cs typeface="Calibri" pitchFamily="34" charset="-120"/>
              </a:rPr>
              <a:t>여행 계획 시 관광지 정보를 찾는 과정이 번거롭고,</a:t>
            </a:r>
            <a:endParaRPr lang="en-US" sz="1300" dirty="0"/>
          </a:p>
          <a:p>
            <a:pPr marL="0" indent="0" algn="l">
              <a:buNone/>
            </a:pPr>
            <a:r>
              <a:rPr lang="en-US" sz="1300" dirty="0">
                <a:solidFill>
                  <a:srgbClr val="555555"/>
                </a:solidFill>
                <a:latin typeface="Calibri" pitchFamily="34" charset="0"/>
                <a:ea typeface="Calibri" pitchFamily="34" charset="-122"/>
                <a:cs typeface="Calibri" pitchFamily="34" charset="-120"/>
              </a:rPr>
              <a:t>지역별 정보를 한 번에 확인하기 어려운 문제 해결을 위해 제작</a:t>
            </a:r>
            <a:endParaRPr lang="en-US" sz="1300" dirty="0"/>
          </a:p>
        </p:txBody>
      </p:sp>
      <p:sp>
        <p:nvSpPr>
          <p:cNvPr id="9" name="Shape 7"/>
          <p:cNvSpPr/>
          <p:nvPr/>
        </p:nvSpPr>
        <p:spPr>
          <a:xfrm>
            <a:off x="5029200" y="1005840"/>
            <a:ext cx="3657600" cy="3657600"/>
          </a:xfrm>
          <a:prstGeom prst="roundRect">
            <a:avLst>
              <a:gd name="adj" fmla="val 3750"/>
            </a:avLst>
          </a:prstGeom>
          <a:solidFill>
            <a:srgbClr val="F6F6F6"/>
          </a:solidFill>
          <a:ln w="12700">
            <a:solidFill>
              <a:srgbClr val="F6F6F6"/>
            </a:solidFill>
            <a:prstDash val="solid"/>
          </a:ln>
          <a:effectLst>
            <a:outerShdw blurRad="101600" dist="38100" dir="2700000" algn="bl" rotWithShape="0">
              <a:srgbClr val="000000">
                <a:alpha val="8000"/>
              </a:srgbClr>
            </a:outerShdw>
          </a:effectLst>
        </p:spPr>
      </p:sp>
      <p:sp>
        <p:nvSpPr>
          <p:cNvPr id="10" name="Text 8"/>
          <p:cNvSpPr/>
          <p:nvPr/>
        </p:nvSpPr>
        <p:spPr>
          <a:xfrm>
            <a:off x="5212080" y="1188720"/>
            <a:ext cx="3200400" cy="365760"/>
          </a:xfrm>
          <a:prstGeom prst="rect">
            <a:avLst/>
          </a:prstGeom>
          <a:noFill/>
          <a:ln/>
        </p:spPr>
        <p:txBody>
          <a:bodyPr wrap="square" lIns="0" tIns="0" rIns="0" bIns="0" rtlCol="0" anchor="ctr"/>
          <a:lstStyle/>
          <a:p>
            <a:pPr marL="0" indent="0" algn="l">
              <a:buNone/>
            </a:pPr>
            <a:r>
              <a:rPr lang="en-US" sz="1400" b="1" dirty="0">
                <a:solidFill>
                  <a:srgbClr val="111111"/>
                </a:solidFill>
                <a:latin typeface="Calibri" pitchFamily="34" charset="0"/>
                <a:ea typeface="Calibri" pitchFamily="34" charset="-122"/>
                <a:cs typeface="Calibri" pitchFamily="34" charset="-120"/>
              </a:rPr>
              <a:t>기대 효과</a:t>
            </a:r>
            <a:endParaRPr lang="en-US" sz="1400" dirty="0"/>
          </a:p>
        </p:txBody>
      </p:sp>
      <p:sp>
        <p:nvSpPr>
          <p:cNvPr id="11" name="Text 9"/>
          <p:cNvSpPr/>
          <p:nvPr/>
        </p:nvSpPr>
        <p:spPr>
          <a:xfrm>
            <a:off x="5212080" y="1691640"/>
            <a:ext cx="3200400" cy="457200"/>
          </a:xfrm>
          <a:prstGeom prst="rect">
            <a:avLst/>
          </a:prstGeom>
          <a:noFill/>
          <a:ln/>
        </p:spPr>
        <p:txBody>
          <a:bodyPr wrap="square" lIns="0" tIns="0" rIns="0" bIns="0" rtlCol="0" anchor="ctr"/>
          <a:lstStyle/>
          <a:p>
            <a:pPr marL="0" indent="0" algn="l">
              <a:buNone/>
            </a:pPr>
            <a:r>
              <a:rPr lang="en-US" sz="1300" dirty="0">
                <a:solidFill>
                  <a:srgbClr val="111111"/>
                </a:solidFill>
                <a:latin typeface="Calibri" pitchFamily="34" charset="0"/>
                <a:ea typeface="Calibri" pitchFamily="34" charset="-122"/>
                <a:cs typeface="Calibri" pitchFamily="34" charset="-120"/>
              </a:rPr>
              <a:t>✓  원하는 관광지 쉽고 빠르게 검색</a:t>
            </a:r>
            <a:endParaRPr lang="en-US" sz="1300" dirty="0"/>
          </a:p>
        </p:txBody>
      </p:sp>
      <p:sp>
        <p:nvSpPr>
          <p:cNvPr id="12" name="Text 10"/>
          <p:cNvSpPr/>
          <p:nvPr/>
        </p:nvSpPr>
        <p:spPr>
          <a:xfrm>
            <a:off x="5212080" y="2240280"/>
            <a:ext cx="3200400" cy="457200"/>
          </a:xfrm>
          <a:prstGeom prst="rect">
            <a:avLst/>
          </a:prstGeom>
          <a:noFill/>
          <a:ln/>
        </p:spPr>
        <p:txBody>
          <a:bodyPr wrap="square" lIns="0" tIns="0" rIns="0" bIns="0" rtlCol="0" anchor="ctr"/>
          <a:lstStyle/>
          <a:p>
            <a:pPr marL="0" indent="0" algn="l">
              <a:buNone/>
            </a:pPr>
            <a:r>
              <a:rPr lang="en-US" sz="1300" dirty="0">
                <a:solidFill>
                  <a:srgbClr val="111111"/>
                </a:solidFill>
                <a:latin typeface="Calibri" pitchFamily="34" charset="0"/>
                <a:ea typeface="Calibri" pitchFamily="34" charset="-122"/>
                <a:cs typeface="Calibri" pitchFamily="34" charset="-120"/>
              </a:rPr>
              <a:t>✓  지역별·카테고리별 관광 정보 제공</a:t>
            </a:r>
            <a:endParaRPr lang="en-US" sz="1300" dirty="0"/>
          </a:p>
        </p:txBody>
      </p:sp>
      <p:sp>
        <p:nvSpPr>
          <p:cNvPr id="13" name="Text 11"/>
          <p:cNvSpPr/>
          <p:nvPr/>
        </p:nvSpPr>
        <p:spPr>
          <a:xfrm>
            <a:off x="5212080" y="2788920"/>
            <a:ext cx="3200400" cy="457200"/>
          </a:xfrm>
          <a:prstGeom prst="rect">
            <a:avLst/>
          </a:prstGeom>
          <a:noFill/>
          <a:ln/>
        </p:spPr>
        <p:txBody>
          <a:bodyPr wrap="square" lIns="0" tIns="0" rIns="0" bIns="0" rtlCol="0" anchor="ctr"/>
          <a:lstStyle/>
          <a:p>
            <a:pPr marL="0" indent="0" algn="l">
              <a:buNone/>
            </a:pPr>
            <a:r>
              <a:rPr lang="en-US" sz="1300" dirty="0">
                <a:solidFill>
                  <a:srgbClr val="111111"/>
                </a:solidFill>
                <a:latin typeface="Calibri" pitchFamily="34" charset="0"/>
                <a:ea typeface="Calibri" pitchFamily="34" charset="-122"/>
                <a:cs typeface="Calibri" pitchFamily="34" charset="-120"/>
              </a:rPr>
              <a:t>✓  관심 관광지 저장 기능</a:t>
            </a:r>
            <a:endParaRPr lang="en-US" sz="1300" dirty="0"/>
          </a:p>
        </p:txBody>
      </p:sp>
      <p:sp>
        <p:nvSpPr>
          <p:cNvPr id="14" name="Text 12"/>
          <p:cNvSpPr/>
          <p:nvPr/>
        </p:nvSpPr>
        <p:spPr>
          <a:xfrm>
            <a:off x="5212080" y="3337560"/>
            <a:ext cx="3200400" cy="457200"/>
          </a:xfrm>
          <a:prstGeom prst="rect">
            <a:avLst/>
          </a:prstGeom>
          <a:noFill/>
          <a:ln/>
        </p:spPr>
        <p:txBody>
          <a:bodyPr wrap="square" lIns="0" tIns="0" rIns="0" bIns="0" rtlCol="0" anchor="ctr"/>
          <a:lstStyle/>
          <a:p>
            <a:pPr marL="0" indent="0" algn="l">
              <a:buNone/>
            </a:pPr>
            <a:r>
              <a:rPr lang="en-US" sz="1300" dirty="0">
                <a:solidFill>
                  <a:srgbClr val="111111"/>
                </a:solidFill>
                <a:latin typeface="Calibri" pitchFamily="34" charset="0"/>
                <a:ea typeface="Calibri" pitchFamily="34" charset="-122"/>
                <a:cs typeface="Calibri" pitchFamily="34" charset="-120"/>
              </a:rPr>
              <a:t>✓  위치 기반 주변 관광지 추천</a:t>
            </a:r>
            <a:endParaRPr lang="en-US" sz="1300" dirty="0"/>
          </a:p>
        </p:txBody>
      </p:sp>
      <p:sp>
        <p:nvSpPr>
          <p:cNvPr id="15" name="Text 13"/>
          <p:cNvSpPr/>
          <p:nvPr/>
        </p:nvSpPr>
        <p:spPr>
          <a:xfrm>
            <a:off x="5212080" y="3886200"/>
            <a:ext cx="3200400" cy="457200"/>
          </a:xfrm>
          <a:prstGeom prst="rect">
            <a:avLst/>
          </a:prstGeom>
          <a:noFill/>
          <a:ln/>
        </p:spPr>
        <p:txBody>
          <a:bodyPr wrap="square" lIns="0" tIns="0" rIns="0" bIns="0" rtlCol="0" anchor="ctr"/>
          <a:lstStyle/>
          <a:p>
            <a:pPr marL="0" indent="0" algn="l">
              <a:buNone/>
            </a:pPr>
            <a:r>
              <a:rPr lang="en-US" sz="1300" dirty="0">
                <a:solidFill>
                  <a:srgbClr val="111111"/>
                </a:solidFill>
                <a:latin typeface="Calibri" pitchFamily="34" charset="0"/>
                <a:ea typeface="Calibri" pitchFamily="34" charset="-122"/>
                <a:cs typeface="Calibri" pitchFamily="34" charset="-120"/>
              </a:rPr>
              <a:t>✓  직관적이고 편리한 UI/UX</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111111"/>
                </a:solidFill>
                <a:latin typeface="Calibri" pitchFamily="34" charset="0"/>
                <a:ea typeface="Calibri" pitchFamily="34" charset="-122"/>
                <a:cs typeface="Calibri" pitchFamily="34" charset="-120"/>
              </a:rPr>
              <a:t>사용 API</a:t>
            </a:r>
            <a:endParaRPr lang="en-US" sz="3000" dirty="0"/>
          </a:p>
        </p:txBody>
      </p:sp>
      <p:sp>
        <p:nvSpPr>
          <p:cNvPr id="3" name="Shape 1"/>
          <p:cNvSpPr/>
          <p:nvPr/>
        </p:nvSpPr>
        <p:spPr>
          <a:xfrm>
            <a:off x="640080" y="1005840"/>
            <a:ext cx="7863840" cy="1005840"/>
          </a:xfrm>
          <a:prstGeom prst="roundRect">
            <a:avLst>
              <a:gd name="adj" fmla="val 10909"/>
            </a:avLst>
          </a:prstGeom>
          <a:solidFill>
            <a:srgbClr val="111111"/>
          </a:solidFill>
          <a:ln w="12700">
            <a:solidFill>
              <a:srgbClr val="111111"/>
            </a:solidFill>
            <a:prstDash val="solid"/>
          </a:ln>
        </p:spPr>
      </p:sp>
      <p:sp>
        <p:nvSpPr>
          <p:cNvPr id="4" name="Text 2"/>
          <p:cNvSpPr/>
          <p:nvPr/>
        </p:nvSpPr>
        <p:spPr>
          <a:xfrm>
            <a:off x="822960" y="1097280"/>
            <a:ext cx="7315200" cy="36576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한국관광공사 국문 관광정보 서비스 API  (TourAPI v2)</a:t>
            </a:r>
            <a:endParaRPr lang="en-US" sz="1700" dirty="0"/>
          </a:p>
        </p:txBody>
      </p:sp>
      <p:sp>
        <p:nvSpPr>
          <p:cNvPr id="5" name="Text 3"/>
          <p:cNvSpPr/>
          <p:nvPr/>
        </p:nvSpPr>
        <p:spPr>
          <a:xfrm>
            <a:off x="822960" y="1463040"/>
            <a:ext cx="7315200" cy="347472"/>
          </a:xfrm>
          <a:prstGeom prst="rect">
            <a:avLst/>
          </a:prstGeom>
          <a:noFill/>
          <a:ln/>
        </p:spPr>
        <p:txBody>
          <a:bodyPr wrap="square" lIns="0" tIns="0" rIns="0" bIns="0" rtlCol="0" anchor="ctr"/>
          <a:lstStyle/>
          <a:p>
            <a:pPr marL="0" indent="0" algn="l">
              <a:buNone/>
            </a:pPr>
            <a:r>
              <a:rPr lang="en-US" sz="1200" dirty="0">
                <a:solidFill>
                  <a:srgbClr val="AAAAAA"/>
                </a:solidFill>
                <a:latin typeface="Courier New" pitchFamily="34" charset="0"/>
                <a:ea typeface="Courier New" pitchFamily="34" charset="-122"/>
                <a:cs typeface="Courier New" pitchFamily="34" charset="-120"/>
              </a:rPr>
              <a:t>https://apis.data.go.kr/B551011/KorService2</a:t>
            </a:r>
            <a:endParaRPr lang="en-US" sz="1200" dirty="0"/>
          </a:p>
        </p:txBody>
      </p:sp>
      <p:sp>
        <p:nvSpPr>
          <p:cNvPr id="6" name="Shape 4"/>
          <p:cNvSpPr/>
          <p:nvPr/>
        </p:nvSpPr>
        <p:spPr>
          <a:xfrm>
            <a:off x="640080" y="2286000"/>
            <a:ext cx="3840480" cy="1005840"/>
          </a:xfrm>
          <a:prstGeom prst="roundRect">
            <a:avLst>
              <a:gd name="adj" fmla="val 9091"/>
            </a:avLst>
          </a:prstGeom>
          <a:solidFill>
            <a:srgbClr val="F6F6F6"/>
          </a:solidFill>
          <a:ln w="12700">
            <a:solidFill>
              <a:srgbClr val="F6F6F6"/>
            </a:solidFill>
            <a:prstDash val="solid"/>
          </a:ln>
          <a:effectLst>
            <a:outerShdw blurRad="63500" dist="25400" dir="2700000" algn="bl" rotWithShape="0">
              <a:srgbClr val="000000">
                <a:alpha val="7000"/>
              </a:srgbClr>
            </a:outerShdw>
          </a:effectLst>
        </p:spPr>
      </p:sp>
      <p:sp>
        <p:nvSpPr>
          <p:cNvPr id="7" name="Text 5"/>
          <p:cNvSpPr/>
          <p:nvPr/>
        </p:nvSpPr>
        <p:spPr>
          <a:xfrm>
            <a:off x="822960" y="2395728"/>
            <a:ext cx="347472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ourier New" pitchFamily="34" charset="0"/>
                <a:ea typeface="Courier New" pitchFamily="34" charset="-122"/>
                <a:cs typeface="Courier New" pitchFamily="34" charset="-120"/>
              </a:rPr>
              <a:t>areaBasedList2</a:t>
            </a:r>
            <a:endParaRPr lang="en-US" sz="1300" dirty="0"/>
          </a:p>
        </p:txBody>
      </p:sp>
      <p:sp>
        <p:nvSpPr>
          <p:cNvPr id="8" name="Text 6"/>
          <p:cNvSpPr/>
          <p:nvPr/>
        </p:nvSpPr>
        <p:spPr>
          <a:xfrm>
            <a:off x="822960" y="2788920"/>
            <a:ext cx="3474720" cy="347472"/>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지역별 관광지 목록 조회</a:t>
            </a:r>
            <a:endParaRPr lang="en-US" sz="1200" dirty="0"/>
          </a:p>
        </p:txBody>
      </p:sp>
      <p:sp>
        <p:nvSpPr>
          <p:cNvPr id="9" name="Shape 7"/>
          <p:cNvSpPr/>
          <p:nvPr/>
        </p:nvSpPr>
        <p:spPr>
          <a:xfrm>
            <a:off x="4754880" y="2286000"/>
            <a:ext cx="3840480" cy="1005840"/>
          </a:xfrm>
          <a:prstGeom prst="roundRect">
            <a:avLst>
              <a:gd name="adj" fmla="val 9091"/>
            </a:avLst>
          </a:prstGeom>
          <a:solidFill>
            <a:srgbClr val="F6F6F6"/>
          </a:solidFill>
          <a:ln w="12700">
            <a:solidFill>
              <a:srgbClr val="F6F6F6"/>
            </a:solidFill>
            <a:prstDash val="solid"/>
          </a:ln>
          <a:effectLst>
            <a:outerShdw blurRad="63500" dist="25400" dir="2700000" algn="bl" rotWithShape="0">
              <a:srgbClr val="000000">
                <a:alpha val="7000"/>
              </a:srgbClr>
            </a:outerShdw>
          </a:effectLst>
        </p:spPr>
      </p:sp>
      <p:sp>
        <p:nvSpPr>
          <p:cNvPr id="10" name="Text 8"/>
          <p:cNvSpPr/>
          <p:nvPr/>
        </p:nvSpPr>
        <p:spPr>
          <a:xfrm>
            <a:off x="4937760" y="2395728"/>
            <a:ext cx="347472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ourier New" pitchFamily="34" charset="0"/>
                <a:ea typeface="Courier New" pitchFamily="34" charset="-122"/>
                <a:cs typeface="Courier New" pitchFamily="34" charset="-120"/>
              </a:rPr>
              <a:t>searchKeyword2</a:t>
            </a:r>
            <a:endParaRPr lang="en-US" sz="1300" dirty="0"/>
          </a:p>
        </p:txBody>
      </p:sp>
      <p:sp>
        <p:nvSpPr>
          <p:cNvPr id="11" name="Text 9"/>
          <p:cNvSpPr/>
          <p:nvPr/>
        </p:nvSpPr>
        <p:spPr>
          <a:xfrm>
            <a:off x="4937760" y="2788920"/>
            <a:ext cx="3474720" cy="347472"/>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키워드 검색</a:t>
            </a:r>
            <a:endParaRPr lang="en-US" sz="1200" dirty="0"/>
          </a:p>
        </p:txBody>
      </p:sp>
      <p:sp>
        <p:nvSpPr>
          <p:cNvPr id="12" name="Shape 10"/>
          <p:cNvSpPr/>
          <p:nvPr/>
        </p:nvSpPr>
        <p:spPr>
          <a:xfrm>
            <a:off x="640080" y="3520440"/>
            <a:ext cx="3840480" cy="1005840"/>
          </a:xfrm>
          <a:prstGeom prst="roundRect">
            <a:avLst>
              <a:gd name="adj" fmla="val 9091"/>
            </a:avLst>
          </a:prstGeom>
          <a:solidFill>
            <a:srgbClr val="F6F6F6"/>
          </a:solidFill>
          <a:ln w="12700">
            <a:solidFill>
              <a:srgbClr val="F6F6F6"/>
            </a:solidFill>
            <a:prstDash val="solid"/>
          </a:ln>
          <a:effectLst>
            <a:outerShdw blurRad="63500" dist="25400" dir="2700000" algn="bl" rotWithShape="0">
              <a:srgbClr val="000000">
                <a:alpha val="7000"/>
              </a:srgbClr>
            </a:outerShdw>
          </a:effectLst>
        </p:spPr>
      </p:sp>
      <p:sp>
        <p:nvSpPr>
          <p:cNvPr id="13" name="Text 11"/>
          <p:cNvSpPr/>
          <p:nvPr/>
        </p:nvSpPr>
        <p:spPr>
          <a:xfrm>
            <a:off x="822960" y="3630168"/>
            <a:ext cx="347472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ourier New" pitchFamily="34" charset="0"/>
                <a:ea typeface="Courier New" pitchFamily="34" charset="-122"/>
                <a:cs typeface="Courier New" pitchFamily="34" charset="-120"/>
              </a:rPr>
              <a:t>locationBasedList2</a:t>
            </a:r>
            <a:endParaRPr lang="en-US" sz="1300" dirty="0"/>
          </a:p>
        </p:txBody>
      </p:sp>
      <p:sp>
        <p:nvSpPr>
          <p:cNvPr id="14" name="Text 12"/>
          <p:cNvSpPr/>
          <p:nvPr/>
        </p:nvSpPr>
        <p:spPr>
          <a:xfrm>
            <a:off x="822960" y="4023360"/>
            <a:ext cx="3474720" cy="347472"/>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위치 기반 주변 조회</a:t>
            </a:r>
            <a:endParaRPr lang="en-US" sz="1200" dirty="0"/>
          </a:p>
        </p:txBody>
      </p:sp>
      <p:sp>
        <p:nvSpPr>
          <p:cNvPr id="15" name="Shape 13"/>
          <p:cNvSpPr/>
          <p:nvPr/>
        </p:nvSpPr>
        <p:spPr>
          <a:xfrm>
            <a:off x="4754880" y="3520440"/>
            <a:ext cx="3840480" cy="1005840"/>
          </a:xfrm>
          <a:prstGeom prst="roundRect">
            <a:avLst>
              <a:gd name="adj" fmla="val 9091"/>
            </a:avLst>
          </a:prstGeom>
          <a:solidFill>
            <a:srgbClr val="F6F6F6"/>
          </a:solidFill>
          <a:ln w="12700">
            <a:solidFill>
              <a:srgbClr val="F6F6F6"/>
            </a:solidFill>
            <a:prstDash val="solid"/>
          </a:ln>
          <a:effectLst>
            <a:outerShdw blurRad="63500" dist="25400" dir="2700000" algn="bl" rotWithShape="0">
              <a:srgbClr val="000000">
                <a:alpha val="7000"/>
              </a:srgbClr>
            </a:outerShdw>
          </a:effectLst>
        </p:spPr>
      </p:sp>
      <p:sp>
        <p:nvSpPr>
          <p:cNvPr id="16" name="Text 14"/>
          <p:cNvSpPr/>
          <p:nvPr/>
        </p:nvSpPr>
        <p:spPr>
          <a:xfrm>
            <a:off x="4937760" y="3630168"/>
            <a:ext cx="347472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ourier New" pitchFamily="34" charset="0"/>
                <a:ea typeface="Courier New" pitchFamily="34" charset="-122"/>
                <a:cs typeface="Courier New" pitchFamily="34" charset="-120"/>
              </a:rPr>
              <a:t>detailCommon2</a:t>
            </a:r>
            <a:endParaRPr lang="en-US" sz="1300" dirty="0"/>
          </a:p>
        </p:txBody>
      </p:sp>
      <p:sp>
        <p:nvSpPr>
          <p:cNvPr id="17" name="Text 15"/>
          <p:cNvSpPr/>
          <p:nvPr/>
        </p:nvSpPr>
        <p:spPr>
          <a:xfrm>
            <a:off x="4937760" y="4023360"/>
            <a:ext cx="3474720" cy="347472"/>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관광지 상세 정보</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111111"/>
                </a:solidFill>
                <a:latin typeface="Calibri" pitchFamily="34" charset="0"/>
                <a:ea typeface="Calibri" pitchFamily="34" charset="-122"/>
                <a:cs typeface="Calibri" pitchFamily="34" charset="-120"/>
              </a:rPr>
              <a:t>02  기술 스택 및 컴포넌트 구조</a:t>
            </a:r>
            <a:endParaRPr lang="en-US" sz="3000" dirty="0"/>
          </a:p>
        </p:txBody>
      </p:sp>
      <p:sp>
        <p:nvSpPr>
          <p:cNvPr id="3" name="Text 1"/>
          <p:cNvSpPr/>
          <p:nvPr/>
        </p:nvSpPr>
        <p:spPr>
          <a:xfrm>
            <a:off x="640080" y="1005840"/>
            <a:ext cx="3200400" cy="365760"/>
          </a:xfrm>
          <a:prstGeom prst="rect">
            <a:avLst/>
          </a:prstGeom>
          <a:noFill/>
          <a:ln/>
        </p:spPr>
        <p:txBody>
          <a:bodyPr wrap="square" lIns="0" tIns="0" rIns="0" bIns="0" rtlCol="0" anchor="ctr"/>
          <a:lstStyle/>
          <a:p>
            <a:pPr marL="0" indent="0" algn="l">
              <a:buNone/>
            </a:pPr>
            <a:r>
              <a:rPr lang="en-US" sz="1500" b="1" dirty="0">
                <a:solidFill>
                  <a:srgbClr val="777777"/>
                </a:solidFill>
                <a:latin typeface="Calibri" pitchFamily="34" charset="0"/>
                <a:ea typeface="Calibri" pitchFamily="34" charset="-122"/>
                <a:cs typeface="Calibri" pitchFamily="34" charset="-120"/>
              </a:rPr>
              <a:t>기술 스택</a:t>
            </a:r>
            <a:endParaRPr lang="en-US" sz="1500" dirty="0"/>
          </a:p>
        </p:txBody>
      </p:sp>
      <p:sp>
        <p:nvSpPr>
          <p:cNvPr id="4" name="Shape 2"/>
          <p:cNvSpPr/>
          <p:nvPr/>
        </p:nvSpPr>
        <p:spPr>
          <a:xfrm>
            <a:off x="640080" y="1463040"/>
            <a:ext cx="3474720" cy="521208"/>
          </a:xfrm>
          <a:prstGeom prst="roundRect">
            <a:avLst>
              <a:gd name="adj" fmla="val 14035"/>
            </a:avLst>
          </a:prstGeom>
          <a:solidFill>
            <a:srgbClr val="111111"/>
          </a:solidFill>
          <a:ln w="12700">
            <a:solidFill>
              <a:srgbClr val="111111"/>
            </a:solidFill>
            <a:prstDash val="solid"/>
          </a:ln>
        </p:spPr>
      </p:sp>
      <p:sp>
        <p:nvSpPr>
          <p:cNvPr id="5" name="Text 3"/>
          <p:cNvSpPr/>
          <p:nvPr/>
        </p:nvSpPr>
        <p:spPr>
          <a:xfrm>
            <a:off x="822960" y="1508760"/>
            <a:ext cx="1097280" cy="4114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React</a:t>
            </a:r>
            <a:endParaRPr lang="en-US" sz="1300" dirty="0"/>
          </a:p>
        </p:txBody>
      </p:sp>
      <p:sp>
        <p:nvSpPr>
          <p:cNvPr id="6" name="Text 4"/>
          <p:cNvSpPr/>
          <p:nvPr/>
        </p:nvSpPr>
        <p:spPr>
          <a:xfrm>
            <a:off x="1920240" y="1508760"/>
            <a:ext cx="2103120" cy="411480"/>
          </a:xfrm>
          <a:prstGeom prst="rect">
            <a:avLst/>
          </a:prstGeom>
          <a:noFill/>
          <a:ln/>
        </p:spPr>
        <p:txBody>
          <a:bodyPr wrap="square" lIns="0" tIns="0" rIns="0" bIns="0" rtlCol="0" anchor="ctr"/>
          <a:lstStyle/>
          <a:p>
            <a:pPr marL="0" indent="0" algn="l">
              <a:buNone/>
            </a:pPr>
            <a:r>
              <a:rPr lang="en-US" sz="1200" dirty="0">
                <a:solidFill>
                  <a:srgbClr val="AAAAAA"/>
                </a:solidFill>
                <a:latin typeface="Calibri" pitchFamily="34" charset="0"/>
                <a:ea typeface="Calibri" pitchFamily="34" charset="-122"/>
                <a:cs typeface="Calibri" pitchFamily="34" charset="-120"/>
              </a:rPr>
              <a:t>컴포넌트 기반 UI 구성</a:t>
            </a:r>
            <a:endParaRPr lang="en-US" sz="1200" dirty="0"/>
          </a:p>
        </p:txBody>
      </p:sp>
      <p:sp>
        <p:nvSpPr>
          <p:cNvPr id="7" name="Shape 5"/>
          <p:cNvSpPr/>
          <p:nvPr/>
        </p:nvSpPr>
        <p:spPr>
          <a:xfrm>
            <a:off x="640080" y="2103120"/>
            <a:ext cx="3474720" cy="521208"/>
          </a:xfrm>
          <a:prstGeom prst="roundRect">
            <a:avLst>
              <a:gd name="adj" fmla="val 14035"/>
            </a:avLst>
          </a:prstGeom>
          <a:solidFill>
            <a:srgbClr val="F6F6F6"/>
          </a:solidFill>
          <a:ln w="12700">
            <a:solidFill>
              <a:srgbClr val="F6F6F6"/>
            </a:solidFill>
            <a:prstDash val="solid"/>
          </a:ln>
        </p:spPr>
      </p:sp>
      <p:sp>
        <p:nvSpPr>
          <p:cNvPr id="8" name="Text 6"/>
          <p:cNvSpPr/>
          <p:nvPr/>
        </p:nvSpPr>
        <p:spPr>
          <a:xfrm>
            <a:off x="822960" y="2148840"/>
            <a:ext cx="1097280" cy="41148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Vite</a:t>
            </a:r>
            <a:endParaRPr lang="en-US" sz="1300" dirty="0"/>
          </a:p>
        </p:txBody>
      </p:sp>
      <p:sp>
        <p:nvSpPr>
          <p:cNvPr id="9" name="Text 7"/>
          <p:cNvSpPr/>
          <p:nvPr/>
        </p:nvSpPr>
        <p:spPr>
          <a:xfrm>
            <a:off x="1920240" y="2148840"/>
            <a:ext cx="2103120" cy="41148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빠른 개발 환경</a:t>
            </a:r>
            <a:endParaRPr lang="en-US" sz="1200" dirty="0"/>
          </a:p>
        </p:txBody>
      </p:sp>
      <p:sp>
        <p:nvSpPr>
          <p:cNvPr id="10" name="Shape 8"/>
          <p:cNvSpPr/>
          <p:nvPr/>
        </p:nvSpPr>
        <p:spPr>
          <a:xfrm>
            <a:off x="640080" y="2743200"/>
            <a:ext cx="3474720" cy="521208"/>
          </a:xfrm>
          <a:prstGeom prst="roundRect">
            <a:avLst>
              <a:gd name="adj" fmla="val 14035"/>
            </a:avLst>
          </a:prstGeom>
          <a:solidFill>
            <a:srgbClr val="F6F6F6"/>
          </a:solidFill>
          <a:ln w="12700">
            <a:solidFill>
              <a:srgbClr val="F6F6F6"/>
            </a:solidFill>
            <a:prstDash val="solid"/>
          </a:ln>
        </p:spPr>
      </p:sp>
      <p:sp>
        <p:nvSpPr>
          <p:cNvPr id="11" name="Text 9"/>
          <p:cNvSpPr/>
          <p:nvPr/>
        </p:nvSpPr>
        <p:spPr>
          <a:xfrm>
            <a:off x="822960" y="2788920"/>
            <a:ext cx="1097280" cy="41148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TourAPI</a:t>
            </a:r>
            <a:endParaRPr lang="en-US" sz="1300" dirty="0"/>
          </a:p>
        </p:txBody>
      </p:sp>
      <p:sp>
        <p:nvSpPr>
          <p:cNvPr id="12" name="Text 10"/>
          <p:cNvSpPr/>
          <p:nvPr/>
        </p:nvSpPr>
        <p:spPr>
          <a:xfrm>
            <a:off x="1920240" y="2788920"/>
            <a:ext cx="2103120" cy="41148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공공데이터 관광정보</a:t>
            </a:r>
            <a:endParaRPr lang="en-US" sz="1200" dirty="0"/>
          </a:p>
        </p:txBody>
      </p:sp>
      <p:sp>
        <p:nvSpPr>
          <p:cNvPr id="13" name="Shape 11"/>
          <p:cNvSpPr/>
          <p:nvPr/>
        </p:nvSpPr>
        <p:spPr>
          <a:xfrm>
            <a:off x="640080" y="3383280"/>
            <a:ext cx="3474720" cy="521208"/>
          </a:xfrm>
          <a:prstGeom prst="roundRect">
            <a:avLst>
              <a:gd name="adj" fmla="val 14035"/>
            </a:avLst>
          </a:prstGeom>
          <a:solidFill>
            <a:srgbClr val="F6F6F6"/>
          </a:solidFill>
          <a:ln w="12700">
            <a:solidFill>
              <a:srgbClr val="F6F6F6"/>
            </a:solidFill>
            <a:prstDash val="solid"/>
          </a:ln>
        </p:spPr>
      </p:sp>
      <p:sp>
        <p:nvSpPr>
          <p:cNvPr id="14" name="Text 12"/>
          <p:cNvSpPr/>
          <p:nvPr/>
        </p:nvSpPr>
        <p:spPr>
          <a:xfrm>
            <a:off x="822960" y="3429000"/>
            <a:ext cx="1097280" cy="41148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localStorage</a:t>
            </a:r>
            <a:endParaRPr lang="en-US" sz="1300" dirty="0"/>
          </a:p>
        </p:txBody>
      </p:sp>
      <p:sp>
        <p:nvSpPr>
          <p:cNvPr id="15" name="Text 13"/>
          <p:cNvSpPr/>
          <p:nvPr/>
        </p:nvSpPr>
        <p:spPr>
          <a:xfrm>
            <a:off x="1920240" y="3429000"/>
            <a:ext cx="2103120" cy="41148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캐싱 &amp; 즐겨찾기 저장</a:t>
            </a:r>
            <a:endParaRPr lang="en-US" sz="1200" dirty="0"/>
          </a:p>
        </p:txBody>
      </p:sp>
      <p:sp>
        <p:nvSpPr>
          <p:cNvPr id="16" name="Shape 14"/>
          <p:cNvSpPr/>
          <p:nvPr/>
        </p:nvSpPr>
        <p:spPr>
          <a:xfrm>
            <a:off x="640080" y="4023360"/>
            <a:ext cx="3474720" cy="521208"/>
          </a:xfrm>
          <a:prstGeom prst="roundRect">
            <a:avLst>
              <a:gd name="adj" fmla="val 14035"/>
            </a:avLst>
          </a:prstGeom>
          <a:solidFill>
            <a:srgbClr val="F6F6F6"/>
          </a:solidFill>
          <a:ln w="12700">
            <a:solidFill>
              <a:srgbClr val="F6F6F6"/>
            </a:solidFill>
            <a:prstDash val="solid"/>
          </a:ln>
        </p:spPr>
      </p:sp>
      <p:sp>
        <p:nvSpPr>
          <p:cNvPr id="17" name="Text 15"/>
          <p:cNvSpPr/>
          <p:nvPr/>
        </p:nvSpPr>
        <p:spPr>
          <a:xfrm>
            <a:off x="822960" y="4069080"/>
            <a:ext cx="1097280" cy="41148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CSS3</a:t>
            </a:r>
            <a:endParaRPr lang="en-US" sz="1300" dirty="0"/>
          </a:p>
        </p:txBody>
      </p:sp>
      <p:sp>
        <p:nvSpPr>
          <p:cNvPr id="18" name="Text 16"/>
          <p:cNvSpPr/>
          <p:nvPr/>
        </p:nvSpPr>
        <p:spPr>
          <a:xfrm>
            <a:off x="1920240" y="4069080"/>
            <a:ext cx="2103120" cy="41148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반응형 레이아웃</a:t>
            </a:r>
            <a:endParaRPr lang="en-US" sz="1200" dirty="0"/>
          </a:p>
        </p:txBody>
      </p:sp>
      <p:sp>
        <p:nvSpPr>
          <p:cNvPr id="19" name="Text 17"/>
          <p:cNvSpPr/>
          <p:nvPr/>
        </p:nvSpPr>
        <p:spPr>
          <a:xfrm>
            <a:off x="4572000" y="1005840"/>
            <a:ext cx="4114800" cy="365760"/>
          </a:xfrm>
          <a:prstGeom prst="rect">
            <a:avLst/>
          </a:prstGeom>
          <a:noFill/>
          <a:ln/>
        </p:spPr>
        <p:txBody>
          <a:bodyPr wrap="square" lIns="0" tIns="0" rIns="0" bIns="0" rtlCol="0" anchor="ctr"/>
          <a:lstStyle/>
          <a:p>
            <a:pPr marL="0" indent="0" algn="l">
              <a:buNone/>
            </a:pPr>
            <a:r>
              <a:rPr lang="en-US" sz="1500" b="1" dirty="0">
                <a:solidFill>
                  <a:srgbClr val="777777"/>
                </a:solidFill>
                <a:latin typeface="Calibri" pitchFamily="34" charset="0"/>
                <a:ea typeface="Calibri" pitchFamily="34" charset="-122"/>
                <a:cs typeface="Calibri" pitchFamily="34" charset="-120"/>
              </a:rPr>
              <a:t>컴포넌트 구조</a:t>
            </a:r>
            <a:endParaRPr lang="en-US" sz="1500" dirty="0"/>
          </a:p>
        </p:txBody>
      </p:sp>
      <p:sp>
        <p:nvSpPr>
          <p:cNvPr id="20" name="Shape 18"/>
          <p:cNvSpPr/>
          <p:nvPr/>
        </p:nvSpPr>
        <p:spPr>
          <a:xfrm>
            <a:off x="4572000" y="1417320"/>
            <a:ext cx="4114800" cy="475488"/>
          </a:xfrm>
          <a:prstGeom prst="roundRect">
            <a:avLst>
              <a:gd name="adj" fmla="val 15385"/>
            </a:avLst>
          </a:prstGeom>
          <a:solidFill>
            <a:srgbClr val="111111"/>
          </a:solidFill>
          <a:ln w="12700">
            <a:solidFill>
              <a:srgbClr val="111111"/>
            </a:solidFill>
            <a:prstDash val="solid"/>
          </a:ln>
        </p:spPr>
      </p:sp>
      <p:sp>
        <p:nvSpPr>
          <p:cNvPr id="21" name="Text 19"/>
          <p:cNvSpPr/>
          <p:nvPr/>
        </p:nvSpPr>
        <p:spPr>
          <a:xfrm>
            <a:off x="4572000" y="1417320"/>
            <a:ext cx="411480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App  (전체 상태 관리)</a:t>
            </a:r>
            <a:endParaRPr lang="en-US" sz="1400" dirty="0"/>
          </a:p>
        </p:txBody>
      </p:sp>
      <p:sp>
        <p:nvSpPr>
          <p:cNvPr id="22" name="Shape 20"/>
          <p:cNvSpPr/>
          <p:nvPr/>
        </p:nvSpPr>
        <p:spPr>
          <a:xfrm>
            <a:off x="4572000" y="2084832"/>
            <a:ext cx="1965960" cy="475488"/>
          </a:xfrm>
          <a:prstGeom prst="roundRect">
            <a:avLst>
              <a:gd name="adj" fmla="val 13462"/>
            </a:avLst>
          </a:prstGeom>
          <a:solidFill>
            <a:srgbClr val="F6F6F6"/>
          </a:solidFill>
          <a:ln w="12700">
            <a:solidFill>
              <a:srgbClr val="CCCCCC"/>
            </a:solidFill>
            <a:prstDash val="solid"/>
          </a:ln>
        </p:spPr>
      </p:sp>
      <p:sp>
        <p:nvSpPr>
          <p:cNvPr id="23" name="Text 21"/>
          <p:cNvSpPr/>
          <p:nvPr/>
        </p:nvSpPr>
        <p:spPr>
          <a:xfrm>
            <a:off x="4572000" y="2084832"/>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Navbar</a:t>
            </a:r>
            <a:endParaRPr lang="en-US" sz="1200" dirty="0"/>
          </a:p>
        </p:txBody>
      </p:sp>
      <p:sp>
        <p:nvSpPr>
          <p:cNvPr id="24" name="Shape 22"/>
          <p:cNvSpPr/>
          <p:nvPr/>
        </p:nvSpPr>
        <p:spPr>
          <a:xfrm>
            <a:off x="6675120" y="2084832"/>
            <a:ext cx="1965960" cy="475488"/>
          </a:xfrm>
          <a:prstGeom prst="roundRect">
            <a:avLst>
              <a:gd name="adj" fmla="val 13462"/>
            </a:avLst>
          </a:prstGeom>
          <a:solidFill>
            <a:srgbClr val="F6F6F6"/>
          </a:solidFill>
          <a:ln w="12700">
            <a:solidFill>
              <a:srgbClr val="CCCCCC"/>
            </a:solidFill>
            <a:prstDash val="solid"/>
          </a:ln>
        </p:spPr>
      </p:sp>
      <p:sp>
        <p:nvSpPr>
          <p:cNvPr id="25" name="Text 23"/>
          <p:cNvSpPr/>
          <p:nvPr/>
        </p:nvSpPr>
        <p:spPr>
          <a:xfrm>
            <a:off x="6675120" y="2084832"/>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Hero</a:t>
            </a:r>
            <a:endParaRPr lang="en-US" sz="1200" dirty="0"/>
          </a:p>
        </p:txBody>
      </p:sp>
      <p:sp>
        <p:nvSpPr>
          <p:cNvPr id="26" name="Shape 24"/>
          <p:cNvSpPr/>
          <p:nvPr/>
        </p:nvSpPr>
        <p:spPr>
          <a:xfrm>
            <a:off x="4572000" y="2706624"/>
            <a:ext cx="1965960" cy="475488"/>
          </a:xfrm>
          <a:prstGeom prst="roundRect">
            <a:avLst>
              <a:gd name="adj" fmla="val 13462"/>
            </a:avLst>
          </a:prstGeom>
          <a:solidFill>
            <a:srgbClr val="F6F6F6"/>
          </a:solidFill>
          <a:ln w="12700">
            <a:solidFill>
              <a:srgbClr val="CCCCCC"/>
            </a:solidFill>
            <a:prstDash val="solid"/>
          </a:ln>
        </p:spPr>
      </p:sp>
      <p:sp>
        <p:nvSpPr>
          <p:cNvPr id="27" name="Text 25"/>
          <p:cNvSpPr/>
          <p:nvPr/>
        </p:nvSpPr>
        <p:spPr>
          <a:xfrm>
            <a:off x="4572000" y="2706624"/>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SideMenu</a:t>
            </a:r>
            <a:endParaRPr lang="en-US" sz="1200" dirty="0"/>
          </a:p>
        </p:txBody>
      </p:sp>
      <p:sp>
        <p:nvSpPr>
          <p:cNvPr id="28" name="Shape 26"/>
          <p:cNvSpPr/>
          <p:nvPr/>
        </p:nvSpPr>
        <p:spPr>
          <a:xfrm>
            <a:off x="6675120" y="2706624"/>
            <a:ext cx="1965960" cy="475488"/>
          </a:xfrm>
          <a:prstGeom prst="roundRect">
            <a:avLst>
              <a:gd name="adj" fmla="val 13462"/>
            </a:avLst>
          </a:prstGeom>
          <a:solidFill>
            <a:srgbClr val="F6F6F6"/>
          </a:solidFill>
          <a:ln w="12700">
            <a:solidFill>
              <a:srgbClr val="CCCCCC"/>
            </a:solidFill>
            <a:prstDash val="solid"/>
          </a:ln>
        </p:spPr>
      </p:sp>
      <p:sp>
        <p:nvSpPr>
          <p:cNvPr id="29" name="Text 27"/>
          <p:cNvSpPr/>
          <p:nvPr/>
        </p:nvSpPr>
        <p:spPr>
          <a:xfrm>
            <a:off x="6675120" y="2706624"/>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SectionRow</a:t>
            </a:r>
            <a:endParaRPr lang="en-US" sz="1200" dirty="0"/>
          </a:p>
        </p:txBody>
      </p:sp>
      <p:sp>
        <p:nvSpPr>
          <p:cNvPr id="30" name="Shape 28"/>
          <p:cNvSpPr/>
          <p:nvPr/>
        </p:nvSpPr>
        <p:spPr>
          <a:xfrm>
            <a:off x="4572000" y="3328416"/>
            <a:ext cx="1965960" cy="475488"/>
          </a:xfrm>
          <a:prstGeom prst="roundRect">
            <a:avLst>
              <a:gd name="adj" fmla="val 13462"/>
            </a:avLst>
          </a:prstGeom>
          <a:solidFill>
            <a:srgbClr val="F6F6F6"/>
          </a:solidFill>
          <a:ln w="12700">
            <a:solidFill>
              <a:srgbClr val="CCCCCC"/>
            </a:solidFill>
            <a:prstDash val="solid"/>
          </a:ln>
        </p:spPr>
      </p:sp>
      <p:sp>
        <p:nvSpPr>
          <p:cNvPr id="31" name="Text 29"/>
          <p:cNvSpPr/>
          <p:nvPr/>
        </p:nvSpPr>
        <p:spPr>
          <a:xfrm>
            <a:off x="4572000" y="3328416"/>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TourCard</a:t>
            </a:r>
            <a:endParaRPr lang="en-US" sz="1200" dirty="0"/>
          </a:p>
        </p:txBody>
      </p:sp>
      <p:sp>
        <p:nvSpPr>
          <p:cNvPr id="32" name="Shape 30"/>
          <p:cNvSpPr/>
          <p:nvPr/>
        </p:nvSpPr>
        <p:spPr>
          <a:xfrm>
            <a:off x="6675120" y="3328416"/>
            <a:ext cx="1965960" cy="475488"/>
          </a:xfrm>
          <a:prstGeom prst="roundRect">
            <a:avLst>
              <a:gd name="adj" fmla="val 13462"/>
            </a:avLst>
          </a:prstGeom>
          <a:solidFill>
            <a:srgbClr val="F6F6F6"/>
          </a:solidFill>
          <a:ln w="12700">
            <a:solidFill>
              <a:srgbClr val="CCCCCC"/>
            </a:solidFill>
            <a:prstDash val="solid"/>
          </a:ln>
        </p:spPr>
      </p:sp>
      <p:sp>
        <p:nvSpPr>
          <p:cNvPr id="33" name="Text 31"/>
          <p:cNvSpPr/>
          <p:nvPr/>
        </p:nvSpPr>
        <p:spPr>
          <a:xfrm>
            <a:off x="6675120" y="3328416"/>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TourDetail</a:t>
            </a:r>
            <a:endParaRPr lang="en-US" sz="1200" dirty="0"/>
          </a:p>
        </p:txBody>
      </p:sp>
      <p:sp>
        <p:nvSpPr>
          <p:cNvPr id="34" name="Shape 32"/>
          <p:cNvSpPr/>
          <p:nvPr/>
        </p:nvSpPr>
        <p:spPr>
          <a:xfrm>
            <a:off x="4572000" y="3950208"/>
            <a:ext cx="1965960" cy="475488"/>
          </a:xfrm>
          <a:prstGeom prst="roundRect">
            <a:avLst>
              <a:gd name="adj" fmla="val 13462"/>
            </a:avLst>
          </a:prstGeom>
          <a:solidFill>
            <a:srgbClr val="F6F6F6"/>
          </a:solidFill>
          <a:ln w="12700">
            <a:solidFill>
              <a:srgbClr val="CCCCCC"/>
            </a:solidFill>
            <a:prstDash val="solid"/>
          </a:ln>
        </p:spPr>
      </p:sp>
      <p:sp>
        <p:nvSpPr>
          <p:cNvPr id="35" name="Text 33"/>
          <p:cNvSpPr/>
          <p:nvPr/>
        </p:nvSpPr>
        <p:spPr>
          <a:xfrm>
            <a:off x="4572000" y="3950208"/>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Loading</a:t>
            </a:r>
            <a:endParaRPr lang="en-US" sz="1200" dirty="0"/>
          </a:p>
        </p:txBody>
      </p:sp>
      <p:sp>
        <p:nvSpPr>
          <p:cNvPr id="36" name="Shape 34"/>
          <p:cNvSpPr/>
          <p:nvPr/>
        </p:nvSpPr>
        <p:spPr>
          <a:xfrm>
            <a:off x="6675120" y="3950208"/>
            <a:ext cx="1965960" cy="475488"/>
          </a:xfrm>
          <a:prstGeom prst="roundRect">
            <a:avLst>
              <a:gd name="adj" fmla="val 13462"/>
            </a:avLst>
          </a:prstGeom>
          <a:solidFill>
            <a:srgbClr val="F6F6F6"/>
          </a:solidFill>
          <a:ln w="12700">
            <a:solidFill>
              <a:srgbClr val="CCCCCC"/>
            </a:solidFill>
            <a:prstDash val="solid"/>
          </a:ln>
        </p:spPr>
      </p:sp>
      <p:sp>
        <p:nvSpPr>
          <p:cNvPr id="37" name="Text 35"/>
          <p:cNvSpPr/>
          <p:nvPr/>
        </p:nvSpPr>
        <p:spPr>
          <a:xfrm>
            <a:off x="6675120" y="3950208"/>
            <a:ext cx="1965960" cy="475488"/>
          </a:xfrm>
          <a:prstGeom prst="rect">
            <a:avLst/>
          </a:prstGeom>
          <a:noFill/>
          <a:ln/>
        </p:spPr>
        <p:txBody>
          <a:bodyPr wrap="square" lIns="0" tIns="0" rIns="0" bIns="0" rtlCol="0" anchor="ctr"/>
          <a:lstStyle/>
          <a:p>
            <a:pPr marL="0" indent="0" algn="ctr">
              <a:buNone/>
            </a:pPr>
            <a:r>
              <a:rPr lang="en-US" sz="1200" dirty="0">
                <a:solidFill>
                  <a:srgbClr val="111111"/>
                </a:solidFill>
                <a:latin typeface="Calibri" pitchFamily="34" charset="0"/>
                <a:ea typeface="Calibri" pitchFamily="34" charset="-122"/>
                <a:cs typeface="Calibri" pitchFamily="34" charset="-120"/>
              </a:rPr>
              <a:t>ErrorMessage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111111"/>
                </a:solidFill>
                <a:latin typeface="Calibri" pitchFamily="34" charset="0"/>
                <a:ea typeface="Calibri" pitchFamily="34" charset="-122"/>
                <a:cs typeface="Calibri" pitchFamily="34" charset="-120"/>
              </a:rPr>
              <a:t>03  주요 기능</a:t>
            </a:r>
            <a:endParaRPr lang="en-US" sz="3000" dirty="0"/>
          </a:p>
        </p:txBody>
      </p:sp>
      <p:sp>
        <p:nvSpPr>
          <p:cNvPr id="3" name="Shape 1"/>
          <p:cNvSpPr/>
          <p:nvPr/>
        </p:nvSpPr>
        <p:spPr>
          <a:xfrm>
            <a:off x="640080" y="1188720"/>
            <a:ext cx="3931920" cy="1572768"/>
          </a:xfrm>
          <a:prstGeom prst="roundRect">
            <a:avLst>
              <a:gd name="adj" fmla="val 8140"/>
            </a:avLst>
          </a:prstGeom>
          <a:solidFill>
            <a:srgbClr val="111111"/>
          </a:solidFill>
          <a:ln w="12700">
            <a:solidFill>
              <a:srgbClr val="111111"/>
            </a:solidFill>
            <a:prstDash val="solid"/>
          </a:ln>
          <a:effectLst>
            <a:outerShdw blurRad="88900" dist="25400" dir="2700000" algn="bl" rotWithShape="0">
              <a:srgbClr val="000000">
                <a:alpha val="8000"/>
              </a:srgbClr>
            </a:outerShdw>
          </a:effectLst>
        </p:spPr>
      </p:sp>
      <p:sp>
        <p:nvSpPr>
          <p:cNvPr id="4" name="Text 2"/>
          <p:cNvSpPr/>
          <p:nvPr/>
        </p:nvSpPr>
        <p:spPr>
          <a:xfrm>
            <a:off x="841248" y="1371600"/>
            <a:ext cx="548640" cy="320040"/>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01</a:t>
            </a:r>
            <a:endParaRPr lang="en-US" sz="1100" dirty="0"/>
          </a:p>
        </p:txBody>
      </p:sp>
      <p:sp>
        <p:nvSpPr>
          <p:cNvPr id="5" name="Text 3"/>
          <p:cNvSpPr/>
          <p:nvPr/>
        </p:nvSpPr>
        <p:spPr>
          <a:xfrm>
            <a:off x="841248" y="1645920"/>
            <a:ext cx="3474720" cy="41148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키워드 검색</a:t>
            </a:r>
            <a:endParaRPr lang="en-US" sz="1700" dirty="0"/>
          </a:p>
        </p:txBody>
      </p:sp>
      <p:sp>
        <p:nvSpPr>
          <p:cNvPr id="6" name="Text 4"/>
          <p:cNvSpPr/>
          <p:nvPr/>
        </p:nvSpPr>
        <p:spPr>
          <a:xfrm>
            <a:off x="841248" y="2075688"/>
            <a:ext cx="3474720" cy="594360"/>
          </a:xfrm>
          <a:prstGeom prst="rect">
            <a:avLst/>
          </a:prstGeom>
          <a:noFill/>
          <a:ln/>
        </p:spPr>
        <p:txBody>
          <a:bodyPr wrap="square" lIns="0" tIns="0" rIns="0" bIns="0" rtlCol="0" anchor="ctr"/>
          <a:lstStyle/>
          <a:p>
            <a:pPr marL="0" indent="0" algn="l">
              <a:buNone/>
            </a:pPr>
            <a:r>
              <a:rPr lang="en-US" sz="1300" dirty="0">
                <a:solidFill>
                  <a:srgbClr val="BBBBBB"/>
                </a:solidFill>
                <a:latin typeface="Calibri" pitchFamily="34" charset="0"/>
                <a:ea typeface="Calibri" pitchFamily="34" charset="-122"/>
                <a:cs typeface="Calibri" pitchFamily="34" charset="-120"/>
              </a:rPr>
              <a:t>검색어 입력 시 관광지 실시간 검색</a:t>
            </a:r>
            <a:endParaRPr lang="en-US" sz="1300" dirty="0"/>
          </a:p>
          <a:p>
            <a:pPr marL="0" indent="0" algn="l">
              <a:buNone/>
            </a:pPr>
            <a:r>
              <a:rPr lang="en-US" sz="1300" dirty="0">
                <a:solidFill>
                  <a:srgbClr val="BBBBBB"/>
                </a:solidFill>
                <a:latin typeface="Calibri" pitchFamily="34" charset="0"/>
                <a:ea typeface="Calibri" pitchFamily="34" charset="-122"/>
                <a:cs typeface="Calibri" pitchFamily="34" charset="-120"/>
              </a:rPr>
              <a:t>최근 검색어 자동 저장</a:t>
            </a:r>
            <a:endParaRPr lang="en-US" sz="1300" dirty="0"/>
          </a:p>
        </p:txBody>
      </p:sp>
      <p:sp>
        <p:nvSpPr>
          <p:cNvPr id="7" name="Shape 5"/>
          <p:cNvSpPr/>
          <p:nvPr/>
        </p:nvSpPr>
        <p:spPr>
          <a:xfrm>
            <a:off x="4937760" y="1188720"/>
            <a:ext cx="3931920" cy="1572768"/>
          </a:xfrm>
          <a:prstGeom prst="roundRect">
            <a:avLst>
              <a:gd name="adj" fmla="val 8140"/>
            </a:avLst>
          </a:prstGeom>
          <a:solidFill>
            <a:srgbClr val="F6F6F6"/>
          </a:solidFill>
          <a:ln w="12700">
            <a:solidFill>
              <a:srgbClr val="F6F6F6"/>
            </a:solidFill>
            <a:prstDash val="solid"/>
          </a:ln>
          <a:effectLst>
            <a:outerShdw blurRad="88900" dist="25400" dir="2700000" algn="bl" rotWithShape="0">
              <a:srgbClr val="000000">
                <a:alpha val="8000"/>
              </a:srgbClr>
            </a:outerShdw>
          </a:effectLst>
        </p:spPr>
      </p:sp>
      <p:sp>
        <p:nvSpPr>
          <p:cNvPr id="8" name="Text 6"/>
          <p:cNvSpPr/>
          <p:nvPr/>
        </p:nvSpPr>
        <p:spPr>
          <a:xfrm>
            <a:off x="5138928" y="1371600"/>
            <a:ext cx="548640" cy="320040"/>
          </a:xfrm>
          <a:prstGeom prst="rect">
            <a:avLst/>
          </a:prstGeom>
          <a:noFill/>
          <a:ln/>
        </p:spPr>
        <p:txBody>
          <a:bodyPr wrap="square" lIns="0" tIns="0" rIns="0" bIns="0" rtlCol="0" anchor="ctr"/>
          <a:lstStyle/>
          <a:p>
            <a:pPr marL="0" indent="0" algn="l">
              <a:buNone/>
            </a:pPr>
            <a:r>
              <a:rPr lang="en-US" sz="1100" b="1" dirty="0">
                <a:solidFill>
                  <a:srgbClr val="777777"/>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5138928" y="1645920"/>
            <a:ext cx="3474720" cy="411480"/>
          </a:xfrm>
          <a:prstGeom prst="rect">
            <a:avLst/>
          </a:prstGeom>
          <a:noFill/>
          <a:ln/>
        </p:spPr>
        <p:txBody>
          <a:bodyPr wrap="square" lIns="0" tIns="0" rIns="0" bIns="0" rtlCol="0" anchor="ctr"/>
          <a:lstStyle/>
          <a:p>
            <a:pPr marL="0" indent="0" algn="l">
              <a:buNone/>
            </a:pPr>
            <a:r>
              <a:rPr lang="en-US" sz="1700" b="1" dirty="0">
                <a:solidFill>
                  <a:srgbClr val="111111"/>
                </a:solidFill>
                <a:latin typeface="Calibri" pitchFamily="34" charset="0"/>
                <a:ea typeface="Calibri" pitchFamily="34" charset="-122"/>
                <a:cs typeface="Calibri" pitchFamily="34" charset="-120"/>
              </a:rPr>
              <a:t>카테고리 탐색</a:t>
            </a:r>
            <a:endParaRPr lang="en-US" sz="1700" dirty="0"/>
          </a:p>
        </p:txBody>
      </p:sp>
      <p:sp>
        <p:nvSpPr>
          <p:cNvPr id="10" name="Text 8"/>
          <p:cNvSpPr/>
          <p:nvPr/>
        </p:nvSpPr>
        <p:spPr>
          <a:xfrm>
            <a:off x="5138928" y="2075688"/>
            <a:ext cx="3474720" cy="594360"/>
          </a:xfrm>
          <a:prstGeom prst="rect">
            <a:avLst/>
          </a:prstGeom>
          <a:noFill/>
          <a:ln/>
        </p:spPr>
        <p:txBody>
          <a:bodyPr wrap="square" lIns="0" tIns="0" rIns="0" bIns="0" rtlCol="0" anchor="ctr"/>
          <a:lstStyle/>
          <a:p>
            <a:pPr marL="0" indent="0" algn="l">
              <a:buNone/>
            </a:pPr>
            <a:r>
              <a:rPr lang="en-US" sz="1300" dirty="0">
                <a:solidFill>
                  <a:srgbClr val="555555"/>
                </a:solidFill>
                <a:latin typeface="Calibri" pitchFamily="34" charset="0"/>
                <a:ea typeface="Calibri" pitchFamily="34" charset="-122"/>
                <a:cs typeface="Calibri" pitchFamily="34" charset="-120"/>
              </a:rPr>
              <a:t>관광지 / 축제·행사 / 맛집 / 숙소</a:t>
            </a:r>
            <a:endParaRPr lang="en-US" sz="1300" dirty="0"/>
          </a:p>
          <a:p>
            <a:pPr marL="0" indent="0" algn="l">
              <a:buNone/>
            </a:pPr>
            <a:r>
              <a:rPr lang="en-US" sz="1300" dirty="0">
                <a:solidFill>
                  <a:srgbClr val="555555"/>
                </a:solidFill>
                <a:latin typeface="Calibri" pitchFamily="34" charset="0"/>
                <a:ea typeface="Calibri" pitchFamily="34" charset="-122"/>
                <a:cs typeface="Calibri" pitchFamily="34" charset="-120"/>
              </a:rPr>
              <a:t>쇼핑 / 레포츠 6개 카테고리</a:t>
            </a:r>
            <a:endParaRPr lang="en-US" sz="1300" dirty="0"/>
          </a:p>
        </p:txBody>
      </p:sp>
      <p:sp>
        <p:nvSpPr>
          <p:cNvPr id="11" name="Shape 9"/>
          <p:cNvSpPr/>
          <p:nvPr/>
        </p:nvSpPr>
        <p:spPr>
          <a:xfrm>
            <a:off x="640080" y="2971800"/>
            <a:ext cx="3931920" cy="1572768"/>
          </a:xfrm>
          <a:prstGeom prst="roundRect">
            <a:avLst>
              <a:gd name="adj" fmla="val 8140"/>
            </a:avLst>
          </a:prstGeom>
          <a:solidFill>
            <a:srgbClr val="F6F6F6"/>
          </a:solidFill>
          <a:ln w="12700">
            <a:solidFill>
              <a:srgbClr val="F6F6F6"/>
            </a:solidFill>
            <a:prstDash val="solid"/>
          </a:ln>
          <a:effectLst>
            <a:outerShdw blurRad="88900" dist="25400" dir="2700000" algn="bl" rotWithShape="0">
              <a:srgbClr val="000000">
                <a:alpha val="8000"/>
              </a:srgbClr>
            </a:outerShdw>
          </a:effectLst>
        </p:spPr>
      </p:sp>
      <p:sp>
        <p:nvSpPr>
          <p:cNvPr id="12" name="Text 10"/>
          <p:cNvSpPr/>
          <p:nvPr/>
        </p:nvSpPr>
        <p:spPr>
          <a:xfrm>
            <a:off x="841248" y="3154680"/>
            <a:ext cx="548640" cy="320040"/>
          </a:xfrm>
          <a:prstGeom prst="rect">
            <a:avLst/>
          </a:prstGeom>
          <a:noFill/>
          <a:ln/>
        </p:spPr>
        <p:txBody>
          <a:bodyPr wrap="square" lIns="0" tIns="0" rIns="0" bIns="0" rtlCol="0" anchor="ctr"/>
          <a:lstStyle/>
          <a:p>
            <a:pPr marL="0" indent="0" algn="l">
              <a:buNone/>
            </a:pPr>
            <a:r>
              <a:rPr lang="en-US" sz="1100" b="1" dirty="0">
                <a:solidFill>
                  <a:srgbClr val="777777"/>
                </a:solidFill>
                <a:latin typeface="Calibri" pitchFamily="34" charset="0"/>
                <a:ea typeface="Calibri" pitchFamily="34" charset="-122"/>
                <a:cs typeface="Calibri" pitchFamily="34" charset="-120"/>
              </a:rPr>
              <a:t>03</a:t>
            </a:r>
            <a:endParaRPr lang="en-US" sz="1100" dirty="0"/>
          </a:p>
        </p:txBody>
      </p:sp>
      <p:sp>
        <p:nvSpPr>
          <p:cNvPr id="13" name="Text 11"/>
          <p:cNvSpPr/>
          <p:nvPr/>
        </p:nvSpPr>
        <p:spPr>
          <a:xfrm>
            <a:off x="841248" y="3429000"/>
            <a:ext cx="3474720" cy="411480"/>
          </a:xfrm>
          <a:prstGeom prst="rect">
            <a:avLst/>
          </a:prstGeom>
          <a:noFill/>
          <a:ln/>
        </p:spPr>
        <p:txBody>
          <a:bodyPr wrap="square" lIns="0" tIns="0" rIns="0" bIns="0" rtlCol="0" anchor="ctr"/>
          <a:lstStyle/>
          <a:p>
            <a:pPr marL="0" indent="0" algn="l">
              <a:buNone/>
            </a:pPr>
            <a:r>
              <a:rPr lang="en-US" sz="1700" b="1" dirty="0">
                <a:solidFill>
                  <a:srgbClr val="111111"/>
                </a:solidFill>
                <a:latin typeface="Calibri" pitchFamily="34" charset="0"/>
                <a:ea typeface="Calibri" pitchFamily="34" charset="-122"/>
                <a:cs typeface="Calibri" pitchFamily="34" charset="-120"/>
              </a:rPr>
              <a:t>내 주변 관광지</a:t>
            </a:r>
            <a:endParaRPr lang="en-US" sz="1700" dirty="0"/>
          </a:p>
        </p:txBody>
      </p:sp>
      <p:sp>
        <p:nvSpPr>
          <p:cNvPr id="14" name="Text 12"/>
          <p:cNvSpPr/>
          <p:nvPr/>
        </p:nvSpPr>
        <p:spPr>
          <a:xfrm>
            <a:off x="841248" y="3858768"/>
            <a:ext cx="3474720" cy="594360"/>
          </a:xfrm>
          <a:prstGeom prst="rect">
            <a:avLst/>
          </a:prstGeom>
          <a:noFill/>
          <a:ln/>
        </p:spPr>
        <p:txBody>
          <a:bodyPr wrap="square" lIns="0" tIns="0" rIns="0" bIns="0" rtlCol="0" anchor="ctr"/>
          <a:lstStyle/>
          <a:p>
            <a:pPr marL="0" indent="0" algn="l">
              <a:buNone/>
            </a:pPr>
            <a:r>
              <a:rPr lang="en-US" sz="1300" dirty="0">
                <a:solidFill>
                  <a:srgbClr val="555555"/>
                </a:solidFill>
                <a:latin typeface="Calibri" pitchFamily="34" charset="0"/>
                <a:ea typeface="Calibri" pitchFamily="34" charset="-122"/>
                <a:cs typeface="Calibri" pitchFamily="34" charset="-120"/>
              </a:rPr>
              <a:t>GPS 위치 정보를 활용한</a:t>
            </a:r>
            <a:endParaRPr lang="en-US" sz="1300" dirty="0"/>
          </a:p>
          <a:p>
            <a:pPr marL="0" indent="0" algn="l">
              <a:buNone/>
            </a:pPr>
            <a:r>
              <a:rPr lang="en-US" sz="1300" dirty="0">
                <a:solidFill>
                  <a:srgbClr val="555555"/>
                </a:solidFill>
                <a:latin typeface="Calibri" pitchFamily="34" charset="0"/>
                <a:ea typeface="Calibri" pitchFamily="34" charset="-122"/>
                <a:cs typeface="Calibri" pitchFamily="34" charset="-120"/>
              </a:rPr>
              <a:t>반경 30km 내 관광지 추천</a:t>
            </a:r>
            <a:endParaRPr lang="en-US" sz="1300" dirty="0"/>
          </a:p>
        </p:txBody>
      </p:sp>
      <p:sp>
        <p:nvSpPr>
          <p:cNvPr id="15" name="Shape 13"/>
          <p:cNvSpPr/>
          <p:nvPr/>
        </p:nvSpPr>
        <p:spPr>
          <a:xfrm>
            <a:off x="4937760" y="2971800"/>
            <a:ext cx="3931920" cy="1572768"/>
          </a:xfrm>
          <a:prstGeom prst="roundRect">
            <a:avLst>
              <a:gd name="adj" fmla="val 8140"/>
            </a:avLst>
          </a:prstGeom>
          <a:solidFill>
            <a:srgbClr val="F6F6F6"/>
          </a:solidFill>
          <a:ln w="12700">
            <a:solidFill>
              <a:srgbClr val="F6F6F6"/>
            </a:solidFill>
            <a:prstDash val="solid"/>
          </a:ln>
          <a:effectLst>
            <a:outerShdw blurRad="88900" dist="25400" dir="2700000" algn="bl" rotWithShape="0">
              <a:srgbClr val="000000">
                <a:alpha val="8000"/>
              </a:srgbClr>
            </a:outerShdw>
          </a:effectLst>
        </p:spPr>
      </p:sp>
      <p:sp>
        <p:nvSpPr>
          <p:cNvPr id="16" name="Text 14"/>
          <p:cNvSpPr/>
          <p:nvPr/>
        </p:nvSpPr>
        <p:spPr>
          <a:xfrm>
            <a:off x="5138928" y="3154680"/>
            <a:ext cx="548640" cy="320040"/>
          </a:xfrm>
          <a:prstGeom prst="rect">
            <a:avLst/>
          </a:prstGeom>
          <a:noFill/>
          <a:ln/>
        </p:spPr>
        <p:txBody>
          <a:bodyPr wrap="square" lIns="0" tIns="0" rIns="0" bIns="0" rtlCol="0" anchor="ctr"/>
          <a:lstStyle/>
          <a:p>
            <a:pPr marL="0" indent="0" algn="l">
              <a:buNone/>
            </a:pPr>
            <a:r>
              <a:rPr lang="en-US" sz="1100" b="1" dirty="0">
                <a:solidFill>
                  <a:srgbClr val="777777"/>
                </a:solidFill>
                <a:latin typeface="Calibri" pitchFamily="34" charset="0"/>
                <a:ea typeface="Calibri" pitchFamily="34" charset="-122"/>
                <a:cs typeface="Calibri" pitchFamily="34" charset="-120"/>
              </a:rPr>
              <a:t>04</a:t>
            </a:r>
            <a:endParaRPr lang="en-US" sz="1100" dirty="0"/>
          </a:p>
        </p:txBody>
      </p:sp>
      <p:sp>
        <p:nvSpPr>
          <p:cNvPr id="17" name="Text 15"/>
          <p:cNvSpPr/>
          <p:nvPr/>
        </p:nvSpPr>
        <p:spPr>
          <a:xfrm>
            <a:off x="5138928" y="3429000"/>
            <a:ext cx="3474720" cy="411480"/>
          </a:xfrm>
          <a:prstGeom prst="rect">
            <a:avLst/>
          </a:prstGeom>
          <a:noFill/>
          <a:ln/>
        </p:spPr>
        <p:txBody>
          <a:bodyPr wrap="square" lIns="0" tIns="0" rIns="0" bIns="0" rtlCol="0" anchor="ctr"/>
          <a:lstStyle/>
          <a:p>
            <a:pPr marL="0" indent="0" algn="l">
              <a:buNone/>
            </a:pPr>
            <a:r>
              <a:rPr lang="en-US" sz="1700" b="1" dirty="0">
                <a:solidFill>
                  <a:srgbClr val="111111"/>
                </a:solidFill>
                <a:latin typeface="Calibri" pitchFamily="34" charset="0"/>
                <a:ea typeface="Calibri" pitchFamily="34" charset="-122"/>
                <a:cs typeface="Calibri" pitchFamily="34" charset="-120"/>
              </a:rPr>
              <a:t>즐겨찾기</a:t>
            </a:r>
            <a:endParaRPr lang="en-US" sz="1700" dirty="0"/>
          </a:p>
        </p:txBody>
      </p:sp>
      <p:sp>
        <p:nvSpPr>
          <p:cNvPr id="18" name="Text 16"/>
          <p:cNvSpPr/>
          <p:nvPr/>
        </p:nvSpPr>
        <p:spPr>
          <a:xfrm>
            <a:off x="5138928" y="3858768"/>
            <a:ext cx="3474720" cy="594360"/>
          </a:xfrm>
          <a:prstGeom prst="rect">
            <a:avLst/>
          </a:prstGeom>
          <a:noFill/>
          <a:ln/>
        </p:spPr>
        <p:txBody>
          <a:bodyPr wrap="square" lIns="0" tIns="0" rIns="0" bIns="0" rtlCol="0" anchor="ctr"/>
          <a:lstStyle/>
          <a:p>
            <a:pPr marL="0" indent="0" algn="l">
              <a:buNone/>
            </a:pPr>
            <a:r>
              <a:rPr lang="en-US" sz="1300" dirty="0">
                <a:solidFill>
                  <a:srgbClr val="555555"/>
                </a:solidFill>
                <a:latin typeface="Calibri" pitchFamily="34" charset="0"/>
                <a:ea typeface="Calibri" pitchFamily="34" charset="-122"/>
                <a:cs typeface="Calibri" pitchFamily="34" charset="-120"/>
              </a:rPr>
              <a:t>관심 관광지 저장 및 홈에서 바로 확인</a:t>
            </a:r>
            <a:endParaRPr lang="en-US" sz="1300" dirty="0"/>
          </a:p>
          <a:p>
            <a:pPr marL="0" indent="0" algn="l">
              <a:buNone/>
            </a:pPr>
            <a:r>
              <a:rPr lang="en-US" sz="1300" dirty="0">
                <a:solidFill>
                  <a:srgbClr val="555555"/>
                </a:solidFill>
                <a:latin typeface="Calibri" pitchFamily="34" charset="0"/>
                <a:ea typeface="Calibri" pitchFamily="34" charset="-122"/>
                <a:cs typeface="Calibri" pitchFamily="34" charset="-120"/>
              </a:rPr>
              <a:t>localStorage로 새로고침 후에도 유지</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111111"/>
                </a:solidFill>
                <a:latin typeface="Calibri" pitchFamily="34" charset="0"/>
                <a:ea typeface="Calibri" pitchFamily="34" charset="-122"/>
                <a:cs typeface="Calibri" pitchFamily="34" charset="-120"/>
              </a:rPr>
              <a:t>04  화면 구성</a:t>
            </a:r>
            <a:endParaRPr lang="en-US" sz="3000" dirty="0"/>
          </a:p>
        </p:txBody>
      </p:sp>
      <p:sp>
        <p:nvSpPr>
          <p:cNvPr id="3" name="Shape 1"/>
          <p:cNvSpPr/>
          <p:nvPr/>
        </p:nvSpPr>
        <p:spPr>
          <a:xfrm>
            <a:off x="640080" y="1097280"/>
            <a:ext cx="3931920" cy="1664208"/>
          </a:xfrm>
          <a:prstGeom prst="roundRect">
            <a:avLst>
              <a:gd name="adj" fmla="val 6593"/>
            </a:avLst>
          </a:prstGeom>
          <a:solidFill>
            <a:srgbClr val="F6F6F6"/>
          </a:solidFill>
          <a:ln w="12700">
            <a:solidFill>
              <a:srgbClr val="F6F6F6"/>
            </a:solidFill>
            <a:prstDash val="solid"/>
          </a:ln>
          <a:effectLst>
            <a:outerShdw blurRad="76200" dist="25400" dir="2700000" algn="bl" rotWithShape="0">
              <a:srgbClr val="000000">
                <a:alpha val="7000"/>
              </a:srgbClr>
            </a:outerShdw>
          </a:effectLst>
        </p:spPr>
      </p:sp>
      <p:sp>
        <p:nvSpPr>
          <p:cNvPr id="4" name="Shape 2"/>
          <p:cNvSpPr/>
          <p:nvPr/>
        </p:nvSpPr>
        <p:spPr>
          <a:xfrm>
            <a:off x="640080" y="1097280"/>
            <a:ext cx="3931920" cy="475488"/>
          </a:xfrm>
          <a:prstGeom prst="roundRect">
            <a:avLst>
              <a:gd name="adj" fmla="val 23077"/>
            </a:avLst>
          </a:prstGeom>
          <a:solidFill>
            <a:srgbClr val="111111"/>
          </a:solidFill>
          <a:ln w="12700">
            <a:solidFill>
              <a:srgbClr val="111111"/>
            </a:solidFill>
            <a:prstDash val="solid"/>
          </a:ln>
        </p:spPr>
      </p:sp>
      <p:sp>
        <p:nvSpPr>
          <p:cNvPr id="5" name="Shape 3"/>
          <p:cNvSpPr/>
          <p:nvPr/>
        </p:nvSpPr>
        <p:spPr>
          <a:xfrm>
            <a:off x="640080" y="1325880"/>
            <a:ext cx="3931920" cy="246888"/>
          </a:xfrm>
          <a:prstGeom prst="rect">
            <a:avLst/>
          </a:prstGeom>
          <a:solidFill>
            <a:srgbClr val="111111"/>
          </a:solidFill>
          <a:ln w="12700">
            <a:solidFill>
              <a:srgbClr val="111111"/>
            </a:solidFill>
            <a:prstDash val="solid"/>
          </a:ln>
        </p:spPr>
      </p:sp>
      <p:sp>
        <p:nvSpPr>
          <p:cNvPr id="6" name="Text 4"/>
          <p:cNvSpPr/>
          <p:nvPr/>
        </p:nvSpPr>
        <p:spPr>
          <a:xfrm>
            <a:off x="822960" y="1161288"/>
            <a:ext cx="356616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메인 홈</a:t>
            </a:r>
            <a:endParaRPr lang="en-US" sz="1400" dirty="0"/>
          </a:p>
        </p:txBody>
      </p:sp>
      <p:sp>
        <p:nvSpPr>
          <p:cNvPr id="7" name="Text 5"/>
          <p:cNvSpPr/>
          <p:nvPr/>
        </p:nvSpPr>
        <p:spPr>
          <a:xfrm>
            <a:off x="822960" y="1691640"/>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히어로 배너 슬라이드 (추천 관광지)</a:t>
            </a:r>
            <a:endParaRPr lang="en-US" sz="1200" dirty="0"/>
          </a:p>
        </p:txBody>
      </p:sp>
      <p:sp>
        <p:nvSpPr>
          <p:cNvPr id="8" name="Text 6"/>
          <p:cNvSpPr/>
          <p:nvPr/>
        </p:nvSpPr>
        <p:spPr>
          <a:xfrm>
            <a:off x="822960" y="2039112"/>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내 주변 추천 여행지 (가로 스크롤)</a:t>
            </a:r>
            <a:endParaRPr lang="en-US" sz="1200" dirty="0"/>
          </a:p>
        </p:txBody>
      </p:sp>
      <p:sp>
        <p:nvSpPr>
          <p:cNvPr id="9" name="Text 7"/>
          <p:cNvSpPr/>
          <p:nvPr/>
        </p:nvSpPr>
        <p:spPr>
          <a:xfrm>
            <a:off x="822960" y="2386584"/>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관심있는 여행지 목록</a:t>
            </a:r>
            <a:endParaRPr lang="en-US" sz="1200" dirty="0"/>
          </a:p>
        </p:txBody>
      </p:sp>
      <p:sp>
        <p:nvSpPr>
          <p:cNvPr id="10" name="Shape 8"/>
          <p:cNvSpPr/>
          <p:nvPr/>
        </p:nvSpPr>
        <p:spPr>
          <a:xfrm>
            <a:off x="4937760" y="1097280"/>
            <a:ext cx="3931920" cy="1664208"/>
          </a:xfrm>
          <a:prstGeom prst="roundRect">
            <a:avLst>
              <a:gd name="adj" fmla="val 6593"/>
            </a:avLst>
          </a:prstGeom>
          <a:solidFill>
            <a:srgbClr val="F6F6F6"/>
          </a:solidFill>
          <a:ln w="12700">
            <a:solidFill>
              <a:srgbClr val="F6F6F6"/>
            </a:solidFill>
            <a:prstDash val="solid"/>
          </a:ln>
          <a:effectLst>
            <a:outerShdw blurRad="76200" dist="25400" dir="2700000" algn="bl" rotWithShape="0">
              <a:srgbClr val="000000">
                <a:alpha val="7000"/>
              </a:srgbClr>
            </a:outerShdw>
          </a:effectLst>
        </p:spPr>
      </p:sp>
      <p:sp>
        <p:nvSpPr>
          <p:cNvPr id="11" name="Shape 9"/>
          <p:cNvSpPr/>
          <p:nvPr/>
        </p:nvSpPr>
        <p:spPr>
          <a:xfrm>
            <a:off x="4937760" y="1097280"/>
            <a:ext cx="3931920" cy="475488"/>
          </a:xfrm>
          <a:prstGeom prst="roundRect">
            <a:avLst>
              <a:gd name="adj" fmla="val 23077"/>
            </a:avLst>
          </a:prstGeom>
          <a:solidFill>
            <a:srgbClr val="111111"/>
          </a:solidFill>
          <a:ln w="12700">
            <a:solidFill>
              <a:srgbClr val="111111"/>
            </a:solidFill>
            <a:prstDash val="solid"/>
          </a:ln>
        </p:spPr>
      </p:sp>
      <p:sp>
        <p:nvSpPr>
          <p:cNvPr id="12" name="Shape 10"/>
          <p:cNvSpPr/>
          <p:nvPr/>
        </p:nvSpPr>
        <p:spPr>
          <a:xfrm>
            <a:off x="4937760" y="1325880"/>
            <a:ext cx="3931920" cy="246888"/>
          </a:xfrm>
          <a:prstGeom prst="rect">
            <a:avLst/>
          </a:prstGeom>
          <a:solidFill>
            <a:srgbClr val="111111"/>
          </a:solidFill>
          <a:ln w="12700">
            <a:solidFill>
              <a:srgbClr val="111111"/>
            </a:solidFill>
            <a:prstDash val="solid"/>
          </a:ln>
        </p:spPr>
      </p:sp>
      <p:sp>
        <p:nvSpPr>
          <p:cNvPr id="13" name="Text 11"/>
          <p:cNvSpPr/>
          <p:nvPr/>
        </p:nvSpPr>
        <p:spPr>
          <a:xfrm>
            <a:off x="5120640" y="1161288"/>
            <a:ext cx="356616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카테고리 &amp; 검색 결과</a:t>
            </a:r>
            <a:endParaRPr lang="en-US" sz="1400" dirty="0"/>
          </a:p>
        </p:txBody>
      </p:sp>
      <p:sp>
        <p:nvSpPr>
          <p:cNvPr id="14" name="Text 12"/>
          <p:cNvSpPr/>
          <p:nvPr/>
        </p:nvSpPr>
        <p:spPr>
          <a:xfrm>
            <a:off x="5120640" y="1691640"/>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4열 그리드 레이아웃</a:t>
            </a:r>
            <a:endParaRPr lang="en-US" sz="1200" dirty="0"/>
          </a:p>
        </p:txBody>
      </p:sp>
      <p:sp>
        <p:nvSpPr>
          <p:cNvPr id="15" name="Text 13"/>
          <p:cNvSpPr/>
          <p:nvPr/>
        </p:nvSpPr>
        <p:spPr>
          <a:xfrm>
            <a:off x="5120640" y="2039112"/>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필터 패널 (지역·분류 선택)</a:t>
            </a:r>
            <a:endParaRPr lang="en-US" sz="1200" dirty="0"/>
          </a:p>
        </p:txBody>
      </p:sp>
      <p:sp>
        <p:nvSpPr>
          <p:cNvPr id="16" name="Text 14"/>
          <p:cNvSpPr/>
          <p:nvPr/>
        </p:nvSpPr>
        <p:spPr>
          <a:xfrm>
            <a:off x="5120640" y="2386584"/>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카드당 이미지·제목·주소 표시</a:t>
            </a:r>
            <a:endParaRPr lang="en-US" sz="1200" dirty="0"/>
          </a:p>
        </p:txBody>
      </p:sp>
      <p:sp>
        <p:nvSpPr>
          <p:cNvPr id="17" name="Shape 15"/>
          <p:cNvSpPr/>
          <p:nvPr/>
        </p:nvSpPr>
        <p:spPr>
          <a:xfrm>
            <a:off x="640080" y="2971800"/>
            <a:ext cx="3931920" cy="1664208"/>
          </a:xfrm>
          <a:prstGeom prst="roundRect">
            <a:avLst>
              <a:gd name="adj" fmla="val 6593"/>
            </a:avLst>
          </a:prstGeom>
          <a:solidFill>
            <a:srgbClr val="F6F6F6"/>
          </a:solidFill>
          <a:ln w="12700">
            <a:solidFill>
              <a:srgbClr val="F6F6F6"/>
            </a:solidFill>
            <a:prstDash val="solid"/>
          </a:ln>
          <a:effectLst>
            <a:outerShdw blurRad="76200" dist="25400" dir="2700000" algn="bl" rotWithShape="0">
              <a:srgbClr val="000000">
                <a:alpha val="7000"/>
              </a:srgbClr>
            </a:outerShdw>
          </a:effectLst>
        </p:spPr>
      </p:sp>
      <p:sp>
        <p:nvSpPr>
          <p:cNvPr id="18" name="Shape 16"/>
          <p:cNvSpPr/>
          <p:nvPr/>
        </p:nvSpPr>
        <p:spPr>
          <a:xfrm>
            <a:off x="640080" y="2971800"/>
            <a:ext cx="3931920" cy="475488"/>
          </a:xfrm>
          <a:prstGeom prst="roundRect">
            <a:avLst>
              <a:gd name="adj" fmla="val 23077"/>
            </a:avLst>
          </a:prstGeom>
          <a:solidFill>
            <a:srgbClr val="111111"/>
          </a:solidFill>
          <a:ln w="12700">
            <a:solidFill>
              <a:srgbClr val="111111"/>
            </a:solidFill>
            <a:prstDash val="solid"/>
          </a:ln>
        </p:spPr>
      </p:sp>
      <p:sp>
        <p:nvSpPr>
          <p:cNvPr id="19" name="Shape 17"/>
          <p:cNvSpPr/>
          <p:nvPr/>
        </p:nvSpPr>
        <p:spPr>
          <a:xfrm>
            <a:off x="640080" y="3200400"/>
            <a:ext cx="3931920" cy="246888"/>
          </a:xfrm>
          <a:prstGeom prst="rect">
            <a:avLst/>
          </a:prstGeom>
          <a:solidFill>
            <a:srgbClr val="111111"/>
          </a:solidFill>
          <a:ln w="12700">
            <a:solidFill>
              <a:srgbClr val="111111"/>
            </a:solidFill>
            <a:prstDash val="solid"/>
          </a:ln>
        </p:spPr>
      </p:sp>
      <p:sp>
        <p:nvSpPr>
          <p:cNvPr id="20" name="Text 18"/>
          <p:cNvSpPr/>
          <p:nvPr/>
        </p:nvSpPr>
        <p:spPr>
          <a:xfrm>
            <a:off x="822960" y="3035808"/>
            <a:ext cx="356616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관광지 상세 모달</a:t>
            </a:r>
            <a:endParaRPr lang="en-US" sz="1400" dirty="0"/>
          </a:p>
        </p:txBody>
      </p:sp>
      <p:sp>
        <p:nvSpPr>
          <p:cNvPr id="21" name="Text 19"/>
          <p:cNvSpPr/>
          <p:nvPr/>
        </p:nvSpPr>
        <p:spPr>
          <a:xfrm>
            <a:off x="822960" y="3566160"/>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대표 이미지</a:t>
            </a:r>
            <a:endParaRPr lang="en-US" sz="1200" dirty="0"/>
          </a:p>
        </p:txBody>
      </p:sp>
      <p:sp>
        <p:nvSpPr>
          <p:cNvPr id="22" name="Text 20"/>
          <p:cNvSpPr/>
          <p:nvPr/>
        </p:nvSpPr>
        <p:spPr>
          <a:xfrm>
            <a:off x="822960" y="3913632"/>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제목·주소·전화번호·소개</a:t>
            </a:r>
            <a:endParaRPr lang="en-US" sz="1200" dirty="0"/>
          </a:p>
        </p:txBody>
      </p:sp>
      <p:sp>
        <p:nvSpPr>
          <p:cNvPr id="23" name="Text 21"/>
          <p:cNvSpPr/>
          <p:nvPr/>
        </p:nvSpPr>
        <p:spPr>
          <a:xfrm>
            <a:off x="822960" y="4261104"/>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카카오맵 바로가기 링크</a:t>
            </a:r>
            <a:endParaRPr lang="en-US" sz="1200" dirty="0"/>
          </a:p>
        </p:txBody>
      </p:sp>
      <p:sp>
        <p:nvSpPr>
          <p:cNvPr id="24" name="Shape 22"/>
          <p:cNvSpPr/>
          <p:nvPr/>
        </p:nvSpPr>
        <p:spPr>
          <a:xfrm>
            <a:off x="4937760" y="2971800"/>
            <a:ext cx="3931920" cy="1664208"/>
          </a:xfrm>
          <a:prstGeom prst="roundRect">
            <a:avLst>
              <a:gd name="adj" fmla="val 6593"/>
            </a:avLst>
          </a:prstGeom>
          <a:solidFill>
            <a:srgbClr val="F6F6F6"/>
          </a:solidFill>
          <a:ln w="12700">
            <a:solidFill>
              <a:srgbClr val="F6F6F6"/>
            </a:solidFill>
            <a:prstDash val="solid"/>
          </a:ln>
          <a:effectLst>
            <a:outerShdw blurRad="76200" dist="25400" dir="2700000" algn="bl" rotWithShape="0">
              <a:srgbClr val="000000">
                <a:alpha val="7000"/>
              </a:srgbClr>
            </a:outerShdw>
          </a:effectLst>
        </p:spPr>
      </p:sp>
      <p:sp>
        <p:nvSpPr>
          <p:cNvPr id="25" name="Shape 23"/>
          <p:cNvSpPr/>
          <p:nvPr/>
        </p:nvSpPr>
        <p:spPr>
          <a:xfrm>
            <a:off x="4937760" y="2971800"/>
            <a:ext cx="3931920" cy="475488"/>
          </a:xfrm>
          <a:prstGeom prst="roundRect">
            <a:avLst>
              <a:gd name="adj" fmla="val 23077"/>
            </a:avLst>
          </a:prstGeom>
          <a:solidFill>
            <a:srgbClr val="111111"/>
          </a:solidFill>
          <a:ln w="12700">
            <a:solidFill>
              <a:srgbClr val="111111"/>
            </a:solidFill>
            <a:prstDash val="solid"/>
          </a:ln>
        </p:spPr>
      </p:sp>
      <p:sp>
        <p:nvSpPr>
          <p:cNvPr id="26" name="Shape 24"/>
          <p:cNvSpPr/>
          <p:nvPr/>
        </p:nvSpPr>
        <p:spPr>
          <a:xfrm>
            <a:off x="4937760" y="3200400"/>
            <a:ext cx="3931920" cy="246888"/>
          </a:xfrm>
          <a:prstGeom prst="rect">
            <a:avLst/>
          </a:prstGeom>
          <a:solidFill>
            <a:srgbClr val="111111"/>
          </a:solidFill>
          <a:ln w="12700">
            <a:solidFill>
              <a:srgbClr val="111111"/>
            </a:solidFill>
            <a:prstDash val="solid"/>
          </a:ln>
        </p:spPr>
      </p:sp>
      <p:sp>
        <p:nvSpPr>
          <p:cNvPr id="27" name="Text 25"/>
          <p:cNvSpPr/>
          <p:nvPr/>
        </p:nvSpPr>
        <p:spPr>
          <a:xfrm>
            <a:off x="5120640" y="3035808"/>
            <a:ext cx="356616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사이드 메뉴</a:t>
            </a:r>
            <a:endParaRPr lang="en-US" sz="1400" dirty="0"/>
          </a:p>
        </p:txBody>
      </p:sp>
      <p:sp>
        <p:nvSpPr>
          <p:cNvPr id="28" name="Text 26"/>
          <p:cNvSpPr/>
          <p:nvPr/>
        </p:nvSpPr>
        <p:spPr>
          <a:xfrm>
            <a:off x="5120640" y="3566160"/>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카테고리 바로가기 6종</a:t>
            </a:r>
            <a:endParaRPr lang="en-US" sz="1200" dirty="0"/>
          </a:p>
        </p:txBody>
      </p:sp>
      <p:sp>
        <p:nvSpPr>
          <p:cNvPr id="29" name="Text 27"/>
          <p:cNvSpPr/>
          <p:nvPr/>
        </p:nvSpPr>
        <p:spPr>
          <a:xfrm>
            <a:off x="5120640" y="3913632"/>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내 주변 관광지 버튼</a:t>
            </a:r>
            <a:endParaRPr lang="en-US" sz="1200" dirty="0"/>
          </a:p>
        </p:txBody>
      </p:sp>
      <p:sp>
        <p:nvSpPr>
          <p:cNvPr id="30" name="Text 28"/>
          <p:cNvSpPr/>
          <p:nvPr/>
        </p:nvSpPr>
        <p:spPr>
          <a:xfrm>
            <a:off x="5120640" y="4261104"/>
            <a:ext cx="3566160" cy="329184"/>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  최근 검색어 목록</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개발 과정에서의 도전</a:t>
            </a:r>
            <a:endParaRPr lang="en-US" sz="3000" dirty="0"/>
          </a:p>
        </p:txBody>
      </p:sp>
      <p:sp>
        <p:nvSpPr>
          <p:cNvPr id="3" name="Shape 1"/>
          <p:cNvSpPr/>
          <p:nvPr/>
        </p:nvSpPr>
        <p:spPr>
          <a:xfrm>
            <a:off x="640080" y="1097280"/>
            <a:ext cx="2651760" cy="3566160"/>
          </a:xfrm>
          <a:prstGeom prst="roundRect">
            <a:avLst>
              <a:gd name="adj" fmla="val 4828"/>
            </a:avLst>
          </a:prstGeom>
          <a:solidFill>
            <a:srgbClr val="1A1A1A"/>
          </a:solidFill>
          <a:ln w="12700">
            <a:solidFill>
              <a:srgbClr val="333333"/>
            </a:solidFill>
            <a:prstDash val="solid"/>
          </a:ln>
        </p:spPr>
      </p:sp>
      <p:sp>
        <p:nvSpPr>
          <p:cNvPr id="4" name="Text 2"/>
          <p:cNvSpPr/>
          <p:nvPr/>
        </p:nvSpPr>
        <p:spPr>
          <a:xfrm>
            <a:off x="822960" y="1234440"/>
            <a:ext cx="2286000" cy="292608"/>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문제</a:t>
            </a:r>
            <a:endParaRPr lang="en-US" sz="1100" dirty="0"/>
          </a:p>
        </p:txBody>
      </p:sp>
      <p:sp>
        <p:nvSpPr>
          <p:cNvPr id="5" name="Text 3"/>
          <p:cNvSpPr/>
          <p:nvPr/>
        </p:nvSpPr>
        <p:spPr>
          <a:xfrm>
            <a:off x="822960" y="1508760"/>
            <a:ext cx="228600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API 429 오류</a:t>
            </a:r>
            <a:endParaRPr lang="en-US" sz="1600" dirty="0"/>
          </a:p>
        </p:txBody>
      </p:sp>
      <p:sp>
        <p:nvSpPr>
          <p:cNvPr id="6" name="Text 4"/>
          <p:cNvSpPr/>
          <p:nvPr/>
        </p:nvSpPr>
        <p:spPr>
          <a:xfrm>
            <a:off x="822960" y="2011680"/>
            <a:ext cx="2286000" cy="731520"/>
          </a:xfrm>
          <a:prstGeom prst="rect">
            <a:avLst/>
          </a:prstGeom>
          <a:noFill/>
          <a:ln/>
        </p:spPr>
        <p:txBody>
          <a:bodyPr wrap="square" lIns="0" tIns="0" rIns="0" bIns="0" rtlCol="0" anchor="ctr"/>
          <a:lstStyle/>
          <a:p>
            <a:pPr marL="0" indent="0" algn="l">
              <a:buNone/>
            </a:pPr>
            <a:r>
              <a:rPr lang="en-US" sz="1200" dirty="0">
                <a:solidFill>
                  <a:srgbClr val="888888"/>
                </a:solidFill>
                <a:latin typeface="Calibri" pitchFamily="34" charset="0"/>
                <a:ea typeface="Calibri" pitchFamily="34" charset="-122"/>
                <a:cs typeface="Calibri" pitchFamily="34" charset="-120"/>
              </a:rPr>
              <a:t>짧은 시간에 많은 API 요청 시</a:t>
            </a:r>
            <a:endParaRPr lang="en-US" sz="1200" dirty="0"/>
          </a:p>
          <a:p>
            <a:pPr marL="0" indent="0" algn="l">
              <a:buNone/>
            </a:pPr>
            <a:r>
              <a:rPr lang="en-US" sz="1200" dirty="0">
                <a:solidFill>
                  <a:srgbClr val="888888"/>
                </a:solidFill>
                <a:latin typeface="Calibri" pitchFamily="34" charset="0"/>
                <a:ea typeface="Calibri" pitchFamily="34" charset="-122"/>
                <a:cs typeface="Calibri" pitchFamily="34" charset="-120"/>
              </a:rPr>
              <a:t>일일 트래픽 초과로 차단</a:t>
            </a:r>
            <a:endParaRPr lang="en-US" sz="1200" dirty="0"/>
          </a:p>
        </p:txBody>
      </p:sp>
      <p:sp>
        <p:nvSpPr>
          <p:cNvPr id="7" name="Shape 5"/>
          <p:cNvSpPr/>
          <p:nvPr/>
        </p:nvSpPr>
        <p:spPr>
          <a:xfrm>
            <a:off x="822960" y="2834640"/>
            <a:ext cx="2286000" cy="27432"/>
          </a:xfrm>
          <a:prstGeom prst="rect">
            <a:avLst/>
          </a:prstGeom>
          <a:solidFill>
            <a:srgbClr val="333333"/>
          </a:solidFill>
          <a:ln w="12700">
            <a:solidFill>
              <a:srgbClr val="333333"/>
            </a:solidFill>
            <a:prstDash val="solid"/>
          </a:ln>
        </p:spPr>
      </p:sp>
      <p:sp>
        <p:nvSpPr>
          <p:cNvPr id="8" name="Text 6"/>
          <p:cNvSpPr/>
          <p:nvPr/>
        </p:nvSpPr>
        <p:spPr>
          <a:xfrm>
            <a:off x="822960" y="2944368"/>
            <a:ext cx="2286000" cy="292608"/>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해결</a:t>
            </a:r>
            <a:endParaRPr lang="en-US" sz="1100" dirty="0"/>
          </a:p>
        </p:txBody>
      </p:sp>
      <p:sp>
        <p:nvSpPr>
          <p:cNvPr id="9" name="Text 7"/>
          <p:cNvSpPr/>
          <p:nvPr/>
        </p:nvSpPr>
        <p:spPr>
          <a:xfrm>
            <a:off x="822960" y="3246120"/>
            <a:ext cx="2286000" cy="731520"/>
          </a:xfrm>
          <a:prstGeom prst="rect">
            <a:avLst/>
          </a:prstGeom>
          <a:noFill/>
          <a:ln/>
        </p:spPr>
        <p:txBody>
          <a:bodyPr wrap="square" lIns="0" tIns="0" rIns="0" bIns="0" rtlCol="0" anchor="ctr"/>
          <a:lstStyle/>
          <a:p>
            <a:pPr marL="0" indent="0" algn="l">
              <a:buNone/>
            </a:pPr>
            <a:r>
              <a:rPr lang="en-US" sz="1200" dirty="0">
                <a:solidFill>
                  <a:srgbClr val="CCCCCC"/>
                </a:solidFill>
                <a:latin typeface="Calibri" pitchFamily="34" charset="0"/>
                <a:ea typeface="Calibri" pitchFamily="34" charset="-122"/>
                <a:cs typeface="Calibri" pitchFamily="34" charset="-120"/>
              </a:rPr>
              <a:t>요청 큐(Queue) + 1.2초 딜레이 처리</a:t>
            </a:r>
            <a:endParaRPr lang="en-US" sz="1200" dirty="0"/>
          </a:p>
          <a:p>
            <a:pPr marL="0" indent="0" algn="l">
              <a:buNone/>
            </a:pPr>
            <a:r>
              <a:rPr lang="en-US" sz="1200" dirty="0">
                <a:solidFill>
                  <a:srgbClr val="CCCCCC"/>
                </a:solidFill>
                <a:latin typeface="Calibri" pitchFamily="34" charset="0"/>
                <a:ea typeface="Calibri" pitchFamily="34" charset="-122"/>
                <a:cs typeface="Calibri" pitchFamily="34" charset="-120"/>
              </a:rPr>
              <a:t>12시간 localStorage 캐싱 적용</a:t>
            </a:r>
            <a:endParaRPr lang="en-US" sz="1200" dirty="0"/>
          </a:p>
        </p:txBody>
      </p:sp>
      <p:sp>
        <p:nvSpPr>
          <p:cNvPr id="10" name="Shape 8"/>
          <p:cNvSpPr/>
          <p:nvPr/>
        </p:nvSpPr>
        <p:spPr>
          <a:xfrm>
            <a:off x="3474720" y="1097280"/>
            <a:ext cx="2651760" cy="3566160"/>
          </a:xfrm>
          <a:prstGeom prst="roundRect">
            <a:avLst>
              <a:gd name="adj" fmla="val 4828"/>
            </a:avLst>
          </a:prstGeom>
          <a:solidFill>
            <a:srgbClr val="1A1A1A"/>
          </a:solidFill>
          <a:ln w="12700">
            <a:solidFill>
              <a:srgbClr val="333333"/>
            </a:solidFill>
            <a:prstDash val="solid"/>
          </a:ln>
        </p:spPr>
      </p:sp>
      <p:sp>
        <p:nvSpPr>
          <p:cNvPr id="11" name="Text 9"/>
          <p:cNvSpPr/>
          <p:nvPr/>
        </p:nvSpPr>
        <p:spPr>
          <a:xfrm>
            <a:off x="3657600" y="1234440"/>
            <a:ext cx="2286000" cy="292608"/>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문제</a:t>
            </a:r>
            <a:endParaRPr lang="en-US" sz="1100" dirty="0"/>
          </a:p>
        </p:txBody>
      </p:sp>
      <p:sp>
        <p:nvSpPr>
          <p:cNvPr id="12" name="Text 10"/>
          <p:cNvSpPr/>
          <p:nvPr/>
        </p:nvSpPr>
        <p:spPr>
          <a:xfrm>
            <a:off x="3657600" y="1508760"/>
            <a:ext cx="228600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이미지 없는 데이터</a:t>
            </a:r>
            <a:endParaRPr lang="en-US" sz="1600" dirty="0"/>
          </a:p>
        </p:txBody>
      </p:sp>
      <p:sp>
        <p:nvSpPr>
          <p:cNvPr id="13" name="Text 11"/>
          <p:cNvSpPr/>
          <p:nvPr/>
        </p:nvSpPr>
        <p:spPr>
          <a:xfrm>
            <a:off x="3657600" y="2011680"/>
            <a:ext cx="2286000" cy="731520"/>
          </a:xfrm>
          <a:prstGeom prst="rect">
            <a:avLst/>
          </a:prstGeom>
          <a:noFill/>
          <a:ln/>
        </p:spPr>
        <p:txBody>
          <a:bodyPr wrap="square" lIns="0" tIns="0" rIns="0" bIns="0" rtlCol="0" anchor="ctr"/>
          <a:lstStyle/>
          <a:p>
            <a:pPr marL="0" indent="0" algn="l">
              <a:buNone/>
            </a:pPr>
            <a:r>
              <a:rPr lang="en-US" sz="1200" dirty="0">
                <a:solidFill>
                  <a:srgbClr val="888888"/>
                </a:solidFill>
                <a:latin typeface="Calibri" pitchFamily="34" charset="0"/>
                <a:ea typeface="Calibri" pitchFamily="34" charset="-122"/>
                <a:cs typeface="Calibri" pitchFamily="34" charset="-120"/>
              </a:rPr>
              <a:t>일부 관광지에 대표 이미지</a:t>
            </a:r>
            <a:endParaRPr lang="en-US" sz="1200" dirty="0"/>
          </a:p>
          <a:p>
            <a:pPr marL="0" indent="0" algn="l">
              <a:buNone/>
            </a:pPr>
            <a:r>
              <a:rPr lang="en-US" sz="1200" dirty="0">
                <a:solidFill>
                  <a:srgbClr val="888888"/>
                </a:solidFill>
                <a:latin typeface="Calibri" pitchFamily="34" charset="0"/>
                <a:ea typeface="Calibri" pitchFamily="34" charset="-122"/>
                <a:cs typeface="Calibri" pitchFamily="34" charset="-120"/>
              </a:rPr>
              <a:t>정보가 없는 경우 존재</a:t>
            </a:r>
            <a:endParaRPr lang="en-US" sz="1200" dirty="0"/>
          </a:p>
        </p:txBody>
      </p:sp>
      <p:sp>
        <p:nvSpPr>
          <p:cNvPr id="14" name="Shape 12"/>
          <p:cNvSpPr/>
          <p:nvPr/>
        </p:nvSpPr>
        <p:spPr>
          <a:xfrm>
            <a:off x="3657600" y="2834640"/>
            <a:ext cx="2286000" cy="27432"/>
          </a:xfrm>
          <a:prstGeom prst="rect">
            <a:avLst/>
          </a:prstGeom>
          <a:solidFill>
            <a:srgbClr val="333333"/>
          </a:solidFill>
          <a:ln w="12700">
            <a:solidFill>
              <a:srgbClr val="333333"/>
            </a:solidFill>
            <a:prstDash val="solid"/>
          </a:ln>
        </p:spPr>
      </p:sp>
      <p:sp>
        <p:nvSpPr>
          <p:cNvPr id="15" name="Text 13"/>
          <p:cNvSpPr/>
          <p:nvPr/>
        </p:nvSpPr>
        <p:spPr>
          <a:xfrm>
            <a:off x="3657600" y="2944368"/>
            <a:ext cx="2286000" cy="292608"/>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해결</a:t>
            </a:r>
            <a:endParaRPr lang="en-US" sz="1100" dirty="0"/>
          </a:p>
        </p:txBody>
      </p:sp>
      <p:sp>
        <p:nvSpPr>
          <p:cNvPr id="16" name="Text 14"/>
          <p:cNvSpPr/>
          <p:nvPr/>
        </p:nvSpPr>
        <p:spPr>
          <a:xfrm>
            <a:off x="3657600" y="3246120"/>
            <a:ext cx="2286000" cy="731520"/>
          </a:xfrm>
          <a:prstGeom prst="rect">
            <a:avLst/>
          </a:prstGeom>
          <a:noFill/>
          <a:ln/>
        </p:spPr>
        <p:txBody>
          <a:bodyPr wrap="square" lIns="0" tIns="0" rIns="0" bIns="0" rtlCol="0" anchor="ctr"/>
          <a:lstStyle/>
          <a:p>
            <a:pPr marL="0" indent="0" algn="l">
              <a:buNone/>
            </a:pPr>
            <a:r>
              <a:rPr lang="en-US" sz="1200" dirty="0">
                <a:solidFill>
                  <a:srgbClr val="CCCCCC"/>
                </a:solidFill>
                <a:latin typeface="Calibri" pitchFamily="34" charset="0"/>
                <a:ea typeface="Calibri" pitchFamily="34" charset="-122"/>
                <a:cs typeface="Calibri" pitchFamily="34" charset="-120"/>
              </a:rPr>
              <a:t>Placeholder 이미지 URL로</a:t>
            </a:r>
            <a:endParaRPr lang="en-US" sz="1200" dirty="0"/>
          </a:p>
          <a:p>
            <a:pPr marL="0" indent="0" algn="l">
              <a:buNone/>
            </a:pPr>
            <a:r>
              <a:rPr lang="en-US" sz="1200" dirty="0">
                <a:solidFill>
                  <a:srgbClr val="CCCCCC"/>
                </a:solidFill>
                <a:latin typeface="Calibri" pitchFamily="34" charset="0"/>
                <a:ea typeface="Calibri" pitchFamily="34" charset="-122"/>
                <a:cs typeface="Calibri" pitchFamily="34" charset="-120"/>
              </a:rPr>
              <a:t>기본값 fallback 처리</a:t>
            </a:r>
            <a:endParaRPr lang="en-US" sz="1200" dirty="0"/>
          </a:p>
        </p:txBody>
      </p:sp>
      <p:sp>
        <p:nvSpPr>
          <p:cNvPr id="17" name="Shape 15"/>
          <p:cNvSpPr/>
          <p:nvPr/>
        </p:nvSpPr>
        <p:spPr>
          <a:xfrm>
            <a:off x="6309360" y="1097280"/>
            <a:ext cx="2651760" cy="3566160"/>
          </a:xfrm>
          <a:prstGeom prst="roundRect">
            <a:avLst>
              <a:gd name="adj" fmla="val 4828"/>
            </a:avLst>
          </a:prstGeom>
          <a:solidFill>
            <a:srgbClr val="1A1A1A"/>
          </a:solidFill>
          <a:ln w="12700">
            <a:solidFill>
              <a:srgbClr val="333333"/>
            </a:solidFill>
            <a:prstDash val="solid"/>
          </a:ln>
        </p:spPr>
      </p:sp>
      <p:sp>
        <p:nvSpPr>
          <p:cNvPr id="18" name="Text 16"/>
          <p:cNvSpPr/>
          <p:nvPr/>
        </p:nvSpPr>
        <p:spPr>
          <a:xfrm>
            <a:off x="6492240" y="1234440"/>
            <a:ext cx="2286000" cy="292608"/>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문제</a:t>
            </a:r>
            <a:endParaRPr lang="en-US" sz="1100" dirty="0"/>
          </a:p>
        </p:txBody>
      </p:sp>
      <p:sp>
        <p:nvSpPr>
          <p:cNvPr id="19" name="Text 17"/>
          <p:cNvSpPr/>
          <p:nvPr/>
        </p:nvSpPr>
        <p:spPr>
          <a:xfrm>
            <a:off x="6492240" y="1508760"/>
            <a:ext cx="228600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HTML 태그 포함 텍스트</a:t>
            </a:r>
            <a:endParaRPr lang="en-US" sz="1600" dirty="0"/>
          </a:p>
        </p:txBody>
      </p:sp>
      <p:sp>
        <p:nvSpPr>
          <p:cNvPr id="20" name="Text 18"/>
          <p:cNvSpPr/>
          <p:nvPr/>
        </p:nvSpPr>
        <p:spPr>
          <a:xfrm>
            <a:off x="6492240" y="2011680"/>
            <a:ext cx="2286000" cy="731520"/>
          </a:xfrm>
          <a:prstGeom prst="rect">
            <a:avLst/>
          </a:prstGeom>
          <a:noFill/>
          <a:ln/>
        </p:spPr>
        <p:txBody>
          <a:bodyPr wrap="square" lIns="0" tIns="0" rIns="0" bIns="0" rtlCol="0" anchor="ctr"/>
          <a:lstStyle/>
          <a:p>
            <a:pPr marL="0" indent="0" algn="l">
              <a:buNone/>
            </a:pPr>
            <a:r>
              <a:rPr lang="en-US" sz="1200" dirty="0">
                <a:solidFill>
                  <a:srgbClr val="888888"/>
                </a:solidFill>
                <a:latin typeface="Calibri" pitchFamily="34" charset="0"/>
                <a:ea typeface="Calibri" pitchFamily="34" charset="-122"/>
                <a:cs typeface="Calibri" pitchFamily="34" charset="-120"/>
              </a:rPr>
              <a:t>overview 필드에 HTML 태그가</a:t>
            </a:r>
            <a:endParaRPr lang="en-US" sz="1200" dirty="0"/>
          </a:p>
          <a:p>
            <a:pPr marL="0" indent="0" algn="l">
              <a:buNone/>
            </a:pPr>
            <a:r>
              <a:rPr lang="en-US" sz="1200" dirty="0">
                <a:solidFill>
                  <a:srgbClr val="888888"/>
                </a:solidFill>
                <a:latin typeface="Calibri" pitchFamily="34" charset="0"/>
                <a:ea typeface="Calibri" pitchFamily="34" charset="-122"/>
                <a:cs typeface="Calibri" pitchFamily="34" charset="-120"/>
              </a:rPr>
              <a:t>그대로 포함되어 출력</a:t>
            </a:r>
            <a:endParaRPr lang="en-US" sz="1200" dirty="0"/>
          </a:p>
        </p:txBody>
      </p:sp>
      <p:sp>
        <p:nvSpPr>
          <p:cNvPr id="21" name="Shape 19"/>
          <p:cNvSpPr/>
          <p:nvPr/>
        </p:nvSpPr>
        <p:spPr>
          <a:xfrm>
            <a:off x="6492240" y="2834640"/>
            <a:ext cx="2286000" cy="27432"/>
          </a:xfrm>
          <a:prstGeom prst="rect">
            <a:avLst/>
          </a:prstGeom>
          <a:solidFill>
            <a:srgbClr val="333333"/>
          </a:solidFill>
          <a:ln w="12700">
            <a:solidFill>
              <a:srgbClr val="333333"/>
            </a:solidFill>
            <a:prstDash val="solid"/>
          </a:ln>
        </p:spPr>
      </p:sp>
      <p:sp>
        <p:nvSpPr>
          <p:cNvPr id="22" name="Text 20"/>
          <p:cNvSpPr/>
          <p:nvPr/>
        </p:nvSpPr>
        <p:spPr>
          <a:xfrm>
            <a:off x="6492240" y="2944368"/>
            <a:ext cx="2286000" cy="292608"/>
          </a:xfrm>
          <a:prstGeom prst="rect">
            <a:avLst/>
          </a:prstGeom>
          <a:noFill/>
          <a:ln/>
        </p:spPr>
        <p:txBody>
          <a:bodyPr wrap="square" lIns="0" tIns="0" rIns="0" bIns="0" rtlCol="0" anchor="ctr"/>
          <a:lstStyle/>
          <a:p>
            <a:pPr marL="0" indent="0" algn="l">
              <a:buNone/>
            </a:pPr>
            <a:r>
              <a:rPr lang="en-US" sz="1100" b="1" dirty="0">
                <a:solidFill>
                  <a:srgbClr val="888888"/>
                </a:solidFill>
                <a:latin typeface="Calibri" pitchFamily="34" charset="0"/>
                <a:ea typeface="Calibri" pitchFamily="34" charset="-122"/>
                <a:cs typeface="Calibri" pitchFamily="34" charset="-120"/>
              </a:rPr>
              <a:t>해결</a:t>
            </a:r>
            <a:endParaRPr lang="en-US" sz="1100" dirty="0"/>
          </a:p>
        </p:txBody>
      </p:sp>
      <p:sp>
        <p:nvSpPr>
          <p:cNvPr id="23" name="Text 21"/>
          <p:cNvSpPr/>
          <p:nvPr/>
        </p:nvSpPr>
        <p:spPr>
          <a:xfrm>
            <a:off x="6492240" y="3246120"/>
            <a:ext cx="2286000" cy="731520"/>
          </a:xfrm>
          <a:prstGeom prst="rect">
            <a:avLst/>
          </a:prstGeom>
          <a:noFill/>
          <a:ln/>
        </p:spPr>
        <p:txBody>
          <a:bodyPr wrap="square" lIns="0" tIns="0" rIns="0" bIns="0" rtlCol="0" anchor="ctr"/>
          <a:lstStyle/>
          <a:p>
            <a:pPr marL="0" indent="0" algn="l">
              <a:buNone/>
            </a:pPr>
            <a:r>
              <a:rPr lang="en-US" sz="1200" dirty="0">
                <a:solidFill>
                  <a:srgbClr val="CCCCCC"/>
                </a:solidFill>
                <a:latin typeface="Calibri" pitchFamily="34" charset="0"/>
                <a:ea typeface="Calibri" pitchFamily="34" charset="-122"/>
                <a:cs typeface="Calibri" pitchFamily="34" charset="-120"/>
              </a:rPr>
              <a:t>정규식으로 HTML 태그 제거 후</a:t>
            </a:r>
            <a:endParaRPr lang="en-US" sz="1200" dirty="0"/>
          </a:p>
          <a:p>
            <a:pPr marL="0" indent="0" algn="l">
              <a:buNone/>
            </a:pPr>
            <a:r>
              <a:rPr lang="en-US" sz="1200" dirty="0">
                <a:solidFill>
                  <a:srgbClr val="CCCCCC"/>
                </a:solidFill>
                <a:latin typeface="Calibri" pitchFamily="34" charset="0"/>
                <a:ea typeface="Calibri" pitchFamily="34" charset="-122"/>
                <a:cs typeface="Calibri" pitchFamily="34" charset="-120"/>
              </a:rPr>
              <a:t>순수 텍스트만 표시</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8229600" cy="548640"/>
          </a:xfrm>
          <a:prstGeom prst="rect">
            <a:avLst/>
          </a:prstGeom>
          <a:noFill/>
          <a:ln/>
        </p:spPr>
        <p:txBody>
          <a:bodyPr wrap="square" lIns="0" tIns="0" rIns="0" bIns="0" rtlCol="0" anchor="ctr"/>
          <a:lstStyle/>
          <a:p>
            <a:pPr marL="0" indent="0" algn="l">
              <a:buNone/>
            </a:pPr>
            <a:r>
              <a:rPr lang="en-US" sz="3000" b="1" dirty="0">
                <a:solidFill>
                  <a:srgbClr val="111111"/>
                </a:solidFill>
                <a:latin typeface="Calibri" pitchFamily="34" charset="0"/>
                <a:ea typeface="Calibri" pitchFamily="34" charset="-122"/>
                <a:cs typeface="Calibri" pitchFamily="34" charset="-120"/>
              </a:rPr>
              <a:t>05  느낀점 &amp; 향후 계획</a:t>
            </a:r>
            <a:endParaRPr lang="en-US" sz="3000" dirty="0"/>
          </a:p>
        </p:txBody>
      </p:sp>
      <p:sp>
        <p:nvSpPr>
          <p:cNvPr id="3" name="Shape 1"/>
          <p:cNvSpPr/>
          <p:nvPr/>
        </p:nvSpPr>
        <p:spPr>
          <a:xfrm>
            <a:off x="640080" y="1051560"/>
            <a:ext cx="3931920" cy="3657600"/>
          </a:xfrm>
          <a:prstGeom prst="roundRect">
            <a:avLst>
              <a:gd name="adj" fmla="val 3500"/>
            </a:avLst>
          </a:prstGeom>
          <a:solidFill>
            <a:srgbClr val="F6F6F6"/>
          </a:solidFill>
          <a:ln w="12700">
            <a:solidFill>
              <a:srgbClr val="F6F6F6"/>
            </a:solidFill>
            <a:prstDash val="solid"/>
          </a:ln>
          <a:effectLst>
            <a:outerShdw blurRad="76200" dist="25400" dir="2700000" algn="bl" rotWithShape="0">
              <a:srgbClr val="000000">
                <a:alpha val="7000"/>
              </a:srgbClr>
            </a:outerShdw>
          </a:effectLst>
        </p:spPr>
      </p:sp>
      <p:sp>
        <p:nvSpPr>
          <p:cNvPr id="4" name="Text 2"/>
          <p:cNvSpPr/>
          <p:nvPr/>
        </p:nvSpPr>
        <p:spPr>
          <a:xfrm>
            <a:off x="822960" y="1188720"/>
            <a:ext cx="3474720" cy="365760"/>
          </a:xfrm>
          <a:prstGeom prst="rect">
            <a:avLst/>
          </a:prstGeom>
          <a:noFill/>
          <a:ln/>
        </p:spPr>
        <p:txBody>
          <a:bodyPr wrap="square" lIns="0" tIns="0" rIns="0" bIns="0" rtlCol="0" anchor="ctr"/>
          <a:lstStyle/>
          <a:p>
            <a:pPr marL="0" indent="0" algn="l">
              <a:buNone/>
            </a:pPr>
            <a:r>
              <a:rPr lang="en-US" sz="1500" b="1" dirty="0">
                <a:solidFill>
                  <a:srgbClr val="111111"/>
                </a:solidFill>
                <a:latin typeface="Calibri" pitchFamily="34" charset="0"/>
                <a:ea typeface="Calibri" pitchFamily="34" charset="-122"/>
                <a:cs typeface="Calibri" pitchFamily="34" charset="-120"/>
              </a:rPr>
              <a:t>느낀점</a:t>
            </a:r>
            <a:endParaRPr lang="en-US" sz="1500" dirty="0"/>
          </a:p>
        </p:txBody>
      </p:sp>
      <p:sp>
        <p:nvSpPr>
          <p:cNvPr id="5" name="Shape 3"/>
          <p:cNvSpPr/>
          <p:nvPr/>
        </p:nvSpPr>
        <p:spPr>
          <a:xfrm>
            <a:off x="822960" y="1719072"/>
            <a:ext cx="164592" cy="164592"/>
          </a:xfrm>
          <a:prstGeom prst="ellipse">
            <a:avLst/>
          </a:prstGeom>
          <a:solidFill>
            <a:srgbClr val="111111"/>
          </a:solidFill>
          <a:ln w="12700">
            <a:solidFill>
              <a:srgbClr val="111111"/>
            </a:solidFill>
            <a:prstDash val="solid"/>
          </a:ln>
        </p:spPr>
      </p:sp>
      <p:sp>
        <p:nvSpPr>
          <p:cNvPr id="6" name="Text 4"/>
          <p:cNvSpPr/>
          <p:nvPr/>
        </p:nvSpPr>
        <p:spPr>
          <a:xfrm>
            <a:off x="1097280" y="1664208"/>
            <a:ext cx="3200400" cy="493776"/>
          </a:xfrm>
          <a:prstGeom prst="rect">
            <a:avLst/>
          </a:prstGeom>
          <a:noFill/>
          <a:ln/>
        </p:spPr>
        <p:txBody>
          <a:bodyPr wrap="square" lIns="0" tIns="0" rIns="0" bIns="0" rtlCol="0" anchor="ctr"/>
          <a:lstStyle/>
          <a:p>
            <a:pPr marL="0" indent="0" algn="l">
              <a:buNone/>
            </a:pPr>
            <a:r>
              <a:rPr lang="en-US" sz="1200" dirty="0">
                <a:solidFill>
                  <a:srgbClr val="111111"/>
                </a:solidFill>
                <a:latin typeface="Calibri" pitchFamily="34" charset="0"/>
                <a:ea typeface="Calibri" pitchFamily="34" charset="-122"/>
                <a:cs typeface="Calibri" pitchFamily="34" charset="-120"/>
              </a:rPr>
              <a:t>공공 API 활용 및 실제 데이터 처리 경험</a:t>
            </a:r>
            <a:endParaRPr lang="en-US" sz="1200" dirty="0"/>
          </a:p>
        </p:txBody>
      </p:sp>
      <p:sp>
        <p:nvSpPr>
          <p:cNvPr id="7" name="Shape 5"/>
          <p:cNvSpPr/>
          <p:nvPr/>
        </p:nvSpPr>
        <p:spPr>
          <a:xfrm>
            <a:off x="822960" y="2377440"/>
            <a:ext cx="164592" cy="164592"/>
          </a:xfrm>
          <a:prstGeom prst="ellipse">
            <a:avLst/>
          </a:prstGeom>
          <a:solidFill>
            <a:srgbClr val="111111"/>
          </a:solidFill>
          <a:ln w="12700">
            <a:solidFill>
              <a:srgbClr val="111111"/>
            </a:solidFill>
            <a:prstDash val="solid"/>
          </a:ln>
        </p:spPr>
      </p:sp>
      <p:sp>
        <p:nvSpPr>
          <p:cNvPr id="8" name="Text 6"/>
          <p:cNvSpPr/>
          <p:nvPr/>
        </p:nvSpPr>
        <p:spPr>
          <a:xfrm>
            <a:off x="1097280" y="2322576"/>
            <a:ext cx="3200400" cy="493776"/>
          </a:xfrm>
          <a:prstGeom prst="rect">
            <a:avLst/>
          </a:prstGeom>
          <a:noFill/>
          <a:ln/>
        </p:spPr>
        <p:txBody>
          <a:bodyPr wrap="square" lIns="0" tIns="0" rIns="0" bIns="0" rtlCol="0" anchor="ctr"/>
          <a:lstStyle/>
          <a:p>
            <a:pPr marL="0" indent="0" algn="l">
              <a:buNone/>
            </a:pPr>
            <a:r>
              <a:rPr lang="en-US" sz="1200" dirty="0">
                <a:solidFill>
                  <a:srgbClr val="111111"/>
                </a:solidFill>
                <a:latin typeface="Calibri" pitchFamily="34" charset="0"/>
                <a:ea typeface="Calibri" pitchFamily="34" charset="-122"/>
                <a:cs typeface="Calibri" pitchFamily="34" charset="-120"/>
              </a:rPr>
              <a:t>컴포넌트 단위 설계로 웹 개발 구조 이해</a:t>
            </a:r>
            <a:endParaRPr lang="en-US" sz="1200" dirty="0"/>
          </a:p>
        </p:txBody>
      </p:sp>
      <p:sp>
        <p:nvSpPr>
          <p:cNvPr id="9" name="Shape 7"/>
          <p:cNvSpPr/>
          <p:nvPr/>
        </p:nvSpPr>
        <p:spPr>
          <a:xfrm>
            <a:off x="822960" y="3035808"/>
            <a:ext cx="164592" cy="164592"/>
          </a:xfrm>
          <a:prstGeom prst="ellipse">
            <a:avLst/>
          </a:prstGeom>
          <a:solidFill>
            <a:srgbClr val="111111"/>
          </a:solidFill>
          <a:ln w="12700">
            <a:solidFill>
              <a:srgbClr val="111111"/>
            </a:solidFill>
            <a:prstDash val="solid"/>
          </a:ln>
        </p:spPr>
      </p:sp>
      <p:sp>
        <p:nvSpPr>
          <p:cNvPr id="10" name="Text 8"/>
          <p:cNvSpPr/>
          <p:nvPr/>
        </p:nvSpPr>
        <p:spPr>
          <a:xfrm>
            <a:off x="1097280" y="2980944"/>
            <a:ext cx="3200400" cy="493776"/>
          </a:xfrm>
          <a:prstGeom prst="rect">
            <a:avLst/>
          </a:prstGeom>
          <a:noFill/>
          <a:ln/>
        </p:spPr>
        <p:txBody>
          <a:bodyPr wrap="square" lIns="0" tIns="0" rIns="0" bIns="0" rtlCol="0" anchor="ctr"/>
          <a:lstStyle/>
          <a:p>
            <a:pPr marL="0" indent="0" algn="l">
              <a:buNone/>
            </a:pPr>
            <a:r>
              <a:rPr lang="en-US" sz="1200" dirty="0">
                <a:solidFill>
                  <a:srgbClr val="111111"/>
                </a:solidFill>
                <a:latin typeface="Calibri" pitchFamily="34" charset="0"/>
                <a:ea typeface="Calibri" pitchFamily="34" charset="-122"/>
                <a:cs typeface="Calibri" pitchFamily="34" charset="-120"/>
              </a:rPr>
              <a:t>API 요청 제한 문제를 직접 해결하며</a:t>
            </a:r>
            <a:endParaRPr lang="en-US" sz="1200" dirty="0"/>
          </a:p>
          <a:p>
            <a:pPr marL="0" indent="0" algn="l">
              <a:buNone/>
            </a:pPr>
            <a:r>
              <a:rPr lang="en-US" sz="1200" dirty="0">
                <a:solidFill>
                  <a:srgbClr val="111111"/>
                </a:solidFill>
                <a:latin typeface="Calibri" pitchFamily="34" charset="0"/>
                <a:ea typeface="Calibri" pitchFamily="34" charset="-122"/>
                <a:cs typeface="Calibri" pitchFamily="34" charset="-120"/>
              </a:rPr>
              <a:t>비동기 처리와 캐싱 전략 습득</a:t>
            </a:r>
            <a:endParaRPr lang="en-US" sz="1200" dirty="0"/>
          </a:p>
        </p:txBody>
      </p:sp>
      <p:sp>
        <p:nvSpPr>
          <p:cNvPr id="11" name="Shape 9"/>
          <p:cNvSpPr/>
          <p:nvPr/>
        </p:nvSpPr>
        <p:spPr>
          <a:xfrm>
            <a:off x="822960" y="3694176"/>
            <a:ext cx="164592" cy="164592"/>
          </a:xfrm>
          <a:prstGeom prst="ellipse">
            <a:avLst/>
          </a:prstGeom>
          <a:solidFill>
            <a:srgbClr val="111111"/>
          </a:solidFill>
          <a:ln w="12700">
            <a:solidFill>
              <a:srgbClr val="111111"/>
            </a:solidFill>
            <a:prstDash val="solid"/>
          </a:ln>
        </p:spPr>
      </p:sp>
      <p:sp>
        <p:nvSpPr>
          <p:cNvPr id="12" name="Text 10"/>
          <p:cNvSpPr/>
          <p:nvPr/>
        </p:nvSpPr>
        <p:spPr>
          <a:xfrm>
            <a:off x="1097280" y="3639312"/>
            <a:ext cx="3200400" cy="493776"/>
          </a:xfrm>
          <a:prstGeom prst="rect">
            <a:avLst/>
          </a:prstGeom>
          <a:noFill/>
          <a:ln/>
        </p:spPr>
        <p:txBody>
          <a:bodyPr wrap="square" lIns="0" tIns="0" rIns="0" bIns="0" rtlCol="0" anchor="ctr"/>
          <a:lstStyle/>
          <a:p>
            <a:pPr marL="0" indent="0" algn="l">
              <a:buNone/>
            </a:pPr>
            <a:r>
              <a:rPr lang="en-US" sz="1200" dirty="0">
                <a:solidFill>
                  <a:srgbClr val="111111"/>
                </a:solidFill>
                <a:latin typeface="Calibri" pitchFamily="34" charset="0"/>
                <a:ea typeface="Calibri" pitchFamily="34" charset="-122"/>
                <a:cs typeface="Calibri" pitchFamily="34" charset="-120"/>
              </a:rPr>
              <a:t>사용자 입장의 UI/UX 설계 경험</a:t>
            </a:r>
            <a:endParaRPr lang="en-US" sz="1200" dirty="0"/>
          </a:p>
        </p:txBody>
      </p:sp>
      <p:sp>
        <p:nvSpPr>
          <p:cNvPr id="13" name="Shape 11"/>
          <p:cNvSpPr/>
          <p:nvPr/>
        </p:nvSpPr>
        <p:spPr>
          <a:xfrm>
            <a:off x="4846320" y="1051560"/>
            <a:ext cx="3840480" cy="3657600"/>
          </a:xfrm>
          <a:prstGeom prst="roundRect">
            <a:avLst>
              <a:gd name="adj" fmla="val 3500"/>
            </a:avLst>
          </a:prstGeom>
          <a:solidFill>
            <a:srgbClr val="111111"/>
          </a:solidFill>
          <a:ln w="12700">
            <a:solidFill>
              <a:srgbClr val="111111"/>
            </a:solidFill>
            <a:prstDash val="solid"/>
          </a:ln>
        </p:spPr>
      </p:sp>
      <p:sp>
        <p:nvSpPr>
          <p:cNvPr id="14" name="Text 12"/>
          <p:cNvSpPr/>
          <p:nvPr/>
        </p:nvSpPr>
        <p:spPr>
          <a:xfrm>
            <a:off x="5029200" y="1188720"/>
            <a:ext cx="338328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향후 추가 예정 기능</a:t>
            </a:r>
            <a:endParaRPr lang="en-US" sz="1500" dirty="0"/>
          </a:p>
        </p:txBody>
      </p:sp>
      <p:sp>
        <p:nvSpPr>
          <p:cNvPr id="15" name="Text 13"/>
          <p:cNvSpPr/>
          <p:nvPr/>
        </p:nvSpPr>
        <p:spPr>
          <a:xfrm>
            <a:off x="5029200" y="1719072"/>
            <a:ext cx="3383280" cy="457200"/>
          </a:xfrm>
          <a:prstGeom prst="rect">
            <a:avLst/>
          </a:prstGeom>
          <a:noFill/>
          <a:ln/>
        </p:spPr>
        <p:txBody>
          <a:bodyPr wrap="square" lIns="0" tIns="0" rIns="0" bIns="0" rtlCol="0" anchor="ctr"/>
          <a:lstStyle/>
          <a:p>
            <a:pPr marL="0" indent="0" algn="l">
              <a:buNone/>
            </a:pPr>
            <a:r>
              <a:rPr lang="en-US" sz="1300" dirty="0">
                <a:solidFill>
                  <a:srgbClr val="CCCCCC"/>
                </a:solidFill>
                <a:latin typeface="Calibri" pitchFamily="34" charset="0"/>
                <a:ea typeface="Calibri" pitchFamily="34" charset="-122"/>
                <a:cs typeface="Calibri" pitchFamily="34" charset="-120"/>
              </a:rPr>
              <a:t>지도 API 연동 (카카오맵)</a:t>
            </a:r>
            <a:endParaRPr lang="en-US" sz="1300" dirty="0"/>
          </a:p>
        </p:txBody>
      </p:sp>
      <p:sp>
        <p:nvSpPr>
          <p:cNvPr id="16" name="Text 14"/>
          <p:cNvSpPr/>
          <p:nvPr/>
        </p:nvSpPr>
        <p:spPr>
          <a:xfrm>
            <a:off x="5029200" y="2286000"/>
            <a:ext cx="3383280" cy="457200"/>
          </a:xfrm>
          <a:prstGeom prst="rect">
            <a:avLst/>
          </a:prstGeom>
          <a:noFill/>
          <a:ln/>
        </p:spPr>
        <p:txBody>
          <a:bodyPr wrap="square" lIns="0" tIns="0" rIns="0" bIns="0" rtlCol="0" anchor="ctr"/>
          <a:lstStyle/>
          <a:p>
            <a:pPr marL="0" indent="0" algn="l">
              <a:buNone/>
            </a:pPr>
            <a:r>
              <a:rPr lang="en-US" sz="1300" dirty="0">
                <a:solidFill>
                  <a:srgbClr val="CCCCCC"/>
                </a:solidFill>
                <a:latin typeface="Calibri" pitchFamily="34" charset="0"/>
                <a:ea typeface="Calibri" pitchFamily="34" charset="-122"/>
                <a:cs typeface="Calibri" pitchFamily="34" charset="-120"/>
              </a:rPr>
              <a:t>AI 기반 맞춤 여행 추천</a:t>
            </a:r>
            <a:endParaRPr lang="en-US" sz="1300" dirty="0"/>
          </a:p>
        </p:txBody>
      </p:sp>
      <p:sp>
        <p:nvSpPr>
          <p:cNvPr id="17" name="Text 15"/>
          <p:cNvSpPr/>
          <p:nvPr/>
        </p:nvSpPr>
        <p:spPr>
          <a:xfrm>
            <a:off x="5029200" y="2852928"/>
            <a:ext cx="3383280" cy="457200"/>
          </a:xfrm>
          <a:prstGeom prst="rect">
            <a:avLst/>
          </a:prstGeom>
          <a:noFill/>
          <a:ln/>
        </p:spPr>
        <p:txBody>
          <a:bodyPr wrap="square" lIns="0" tIns="0" rIns="0" bIns="0" rtlCol="0" anchor="ctr"/>
          <a:lstStyle/>
          <a:p>
            <a:pPr marL="0" indent="0" algn="l">
              <a:buNone/>
            </a:pPr>
            <a:r>
              <a:rPr lang="en-US" sz="1300" dirty="0">
                <a:solidFill>
                  <a:srgbClr val="CCCCCC"/>
                </a:solidFill>
                <a:latin typeface="Calibri" pitchFamily="34" charset="0"/>
                <a:ea typeface="Calibri" pitchFamily="34" charset="-122"/>
                <a:cs typeface="Calibri" pitchFamily="34" charset="-120"/>
              </a:rPr>
              <a:t>날씨 정보 연동</a:t>
            </a:r>
            <a:endParaRPr lang="en-US" sz="1300" dirty="0"/>
          </a:p>
        </p:txBody>
      </p:sp>
      <p:sp>
        <p:nvSpPr>
          <p:cNvPr id="18" name="Text 16"/>
          <p:cNvSpPr/>
          <p:nvPr/>
        </p:nvSpPr>
        <p:spPr>
          <a:xfrm>
            <a:off x="5029200" y="3419856"/>
            <a:ext cx="3383280" cy="457200"/>
          </a:xfrm>
          <a:prstGeom prst="rect">
            <a:avLst/>
          </a:prstGeom>
          <a:noFill/>
          <a:ln/>
        </p:spPr>
        <p:txBody>
          <a:bodyPr wrap="square" lIns="0" tIns="0" rIns="0" bIns="0" rtlCol="0" anchor="ctr"/>
          <a:lstStyle/>
          <a:p>
            <a:pPr marL="0" indent="0" algn="l">
              <a:buNone/>
            </a:pPr>
            <a:r>
              <a:rPr lang="en-US" sz="1300" dirty="0">
                <a:solidFill>
                  <a:srgbClr val="CCCCCC"/>
                </a:solidFill>
                <a:latin typeface="Calibri" pitchFamily="34" charset="0"/>
                <a:ea typeface="Calibri" pitchFamily="34" charset="-122"/>
                <a:cs typeface="Calibri" pitchFamily="34" charset="-120"/>
              </a:rPr>
              <a:t>여행 일정 관리 기능</a:t>
            </a:r>
            <a:endParaRPr lang="en-US" sz="1300" dirty="0"/>
          </a:p>
        </p:txBody>
      </p:sp>
      <p:sp>
        <p:nvSpPr>
          <p:cNvPr id="19" name="Text 17"/>
          <p:cNvSpPr/>
          <p:nvPr/>
        </p:nvSpPr>
        <p:spPr>
          <a:xfrm>
            <a:off x="5029200" y="3986784"/>
            <a:ext cx="3383280" cy="457200"/>
          </a:xfrm>
          <a:prstGeom prst="rect">
            <a:avLst/>
          </a:prstGeom>
          <a:noFill/>
          <a:ln/>
        </p:spPr>
        <p:txBody>
          <a:bodyPr wrap="square" lIns="0" tIns="0" rIns="0" bIns="0" rtlCol="0" anchor="ctr"/>
          <a:lstStyle/>
          <a:p>
            <a:pPr marL="0" indent="0" algn="l">
              <a:buNone/>
            </a:pPr>
            <a:r>
              <a:rPr lang="en-US" sz="1300" dirty="0">
                <a:solidFill>
                  <a:srgbClr val="CCCCCC"/>
                </a:solidFill>
                <a:latin typeface="Calibri" pitchFamily="34" charset="0"/>
                <a:ea typeface="Calibri" pitchFamily="34" charset="-122"/>
                <a:cs typeface="Calibri" pitchFamily="34" charset="-120"/>
              </a:rPr>
              <a:t>관광지 리뷰 &amp; 평점 기능</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914400" y="-914400"/>
            <a:ext cx="5486400" cy="5486400"/>
          </a:xfrm>
          <a:prstGeom prst="ellipse">
            <a:avLst/>
          </a:prstGeom>
          <a:solidFill>
            <a:srgbClr val="1A1A1A"/>
          </a:solidFill>
          <a:ln w="12700">
            <a:solidFill>
              <a:srgbClr val="1A1A1A"/>
            </a:solidFill>
            <a:prstDash val="solid"/>
          </a:ln>
        </p:spPr>
      </p:sp>
      <p:sp>
        <p:nvSpPr>
          <p:cNvPr id="3" name="Shape 1"/>
          <p:cNvSpPr/>
          <p:nvPr/>
        </p:nvSpPr>
        <p:spPr>
          <a:xfrm>
            <a:off x="6400800" y="1828800"/>
            <a:ext cx="3657600" cy="3657600"/>
          </a:xfrm>
          <a:prstGeom prst="ellipse">
            <a:avLst/>
          </a:prstGeom>
          <a:solidFill>
            <a:srgbClr val="1A1A1A"/>
          </a:solidFill>
          <a:ln w="12700">
            <a:solidFill>
              <a:srgbClr val="1A1A1A"/>
            </a:solidFill>
            <a:prstDash val="solid"/>
          </a:ln>
        </p:spPr>
      </p:sp>
      <p:sp>
        <p:nvSpPr>
          <p:cNvPr id="4" name="Text 2"/>
          <p:cNvSpPr/>
          <p:nvPr/>
        </p:nvSpPr>
        <p:spPr>
          <a:xfrm>
            <a:off x="640080" y="1371600"/>
            <a:ext cx="8229600"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감사합니다</a:t>
            </a:r>
            <a:endParaRPr lang="en-US" sz="5600" dirty="0"/>
          </a:p>
        </p:txBody>
      </p:sp>
      <p:sp>
        <p:nvSpPr>
          <p:cNvPr id="5" name="Text 3"/>
          <p:cNvSpPr/>
          <p:nvPr/>
        </p:nvSpPr>
        <p:spPr>
          <a:xfrm>
            <a:off x="640080" y="2651760"/>
            <a:ext cx="8229600" cy="457200"/>
          </a:xfrm>
          <a:prstGeom prst="rect">
            <a:avLst/>
          </a:prstGeom>
          <a:noFill/>
          <a:ln/>
        </p:spPr>
        <p:txBody>
          <a:bodyPr wrap="square" lIns="0" tIns="0" rIns="0" bIns="0" rtlCol="0" anchor="ctr"/>
          <a:lstStyle/>
          <a:p>
            <a:pPr marL="0" indent="0" algn="ctr">
              <a:buNone/>
            </a:pPr>
            <a:r>
              <a:rPr lang="en-US" sz="1700" dirty="0">
                <a:solidFill>
                  <a:srgbClr val="777777"/>
                </a:solidFill>
                <a:latin typeface="Calibri" pitchFamily="34" charset="0"/>
                <a:ea typeface="Calibri" pitchFamily="34" charset="-122"/>
                <a:cs typeface="Calibri" pitchFamily="34" charset="-120"/>
              </a:rPr>
              <a:t>TravelMap  —  여행지를 한눈에</a:t>
            </a:r>
            <a:endParaRPr lang="en-US" sz="1700" dirty="0"/>
          </a:p>
        </p:txBody>
      </p:sp>
      <p:sp>
        <p:nvSpPr>
          <p:cNvPr id="6" name="Shape 4"/>
          <p:cNvSpPr/>
          <p:nvPr/>
        </p:nvSpPr>
        <p:spPr>
          <a:xfrm>
            <a:off x="3474720" y="3291840"/>
            <a:ext cx="2194560" cy="36576"/>
          </a:xfrm>
          <a:prstGeom prst="rect">
            <a:avLst/>
          </a:prstGeom>
          <a:solidFill>
            <a:srgbClr val="444444"/>
          </a:solidFill>
          <a:ln w="12700">
            <a:solidFill>
              <a:srgbClr val="444444"/>
            </a:solidFill>
            <a:prstDash val="solid"/>
          </a:ln>
        </p:spPr>
      </p:sp>
      <p:sp>
        <p:nvSpPr>
          <p:cNvPr id="7" name="Text 5"/>
          <p:cNvSpPr/>
          <p:nvPr/>
        </p:nvSpPr>
        <p:spPr>
          <a:xfrm>
            <a:off x="640080" y="3474720"/>
            <a:ext cx="8229600" cy="411480"/>
          </a:xfrm>
          <a:prstGeom prst="rect">
            <a:avLst/>
          </a:prstGeom>
          <a:noFill/>
          <a:ln/>
        </p:spPr>
        <p:txBody>
          <a:bodyPr wrap="square" lIns="0" tIns="0" rIns="0" bIns="0" rtlCol="0" anchor="ctr"/>
          <a:lstStyle/>
          <a:p>
            <a:pPr marL="0" indent="0" algn="ctr">
              <a:buNone/>
            </a:pPr>
            <a:r>
              <a:rPr lang="en-US" sz="1300" dirty="0" err="1">
                <a:solidFill>
                  <a:srgbClr val="555555"/>
                </a:solidFill>
                <a:latin typeface="Calibri" pitchFamily="34" charset="0"/>
                <a:ea typeface="Calibri" pitchFamily="34" charset="-122"/>
                <a:cs typeface="Calibri" pitchFamily="34" charset="-120"/>
              </a:rPr>
              <a:t>컴퓨터소프트웨어공학과</a:t>
            </a:r>
            <a:r>
              <a:rPr lang="en-US" sz="1300" dirty="0">
                <a:solidFill>
                  <a:srgbClr val="555555"/>
                </a:solidFill>
                <a:latin typeface="Calibri" pitchFamily="34" charset="0"/>
                <a:ea typeface="Calibri" pitchFamily="34" charset="-122"/>
                <a:cs typeface="Calibri" pitchFamily="34" charset="-120"/>
              </a:rPr>
              <a:t> YC  |  20250707  이효정</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1044</Words>
  <Application>Microsoft Office PowerPoint</Application>
  <PresentationFormat>화면 슬라이드 쇼(16:9)</PresentationFormat>
  <Paragraphs>155</Paragraphs>
  <Slides>10</Slides>
  <Notes>10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vt:i4>
      </vt:variant>
    </vt:vector>
  </HeadingPairs>
  <TitlesOfParts>
    <vt:vector size="14" baseType="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TravelMap 프로젝트 발표</dc:title>
  <dc:subject>PptxGenJS Presentation</dc:subject>
  <dc:creator>이효정</dc:creator>
  <cp:lastModifiedBy>효정 이</cp:lastModifiedBy>
  <cp:revision>2</cp:revision>
  <dcterms:created xsi:type="dcterms:W3CDTF">2026-06-09T08:37:57Z</dcterms:created>
  <dcterms:modified xsi:type="dcterms:W3CDTF">2026-06-09T09:42:19Z</dcterms:modified>
</cp:coreProperties>
</file>